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nando Valdés" userId="eab78425898f3222" providerId="LiveId" clId="{F45BFA98-325B-4494-A0D3-754FF278606F}"/>
    <pc:docChg chg="modSld">
      <pc:chgData name="Fernando Valdés" userId="eab78425898f3222" providerId="LiveId" clId="{F45BFA98-325B-4494-A0D3-754FF278606F}" dt="2026-09-15T16:00:49.278" v="12" actId="20577"/>
      <pc:docMkLst>
        <pc:docMk/>
      </pc:docMkLst>
      <pc:sldChg chg="modSp mod">
        <pc:chgData name="Fernando Valdés" userId="eab78425898f3222" providerId="LiveId" clId="{F45BFA98-325B-4494-A0D3-754FF278606F}" dt="2026-09-15T16:00:49.278" v="12" actId="20577"/>
        <pc:sldMkLst>
          <pc:docMk/>
          <pc:sldMk cId="3288402631" sldId="256"/>
        </pc:sldMkLst>
        <pc:spChg chg="mod">
          <ac:chgData name="Fernando Valdés" userId="eab78425898f3222" providerId="LiveId" clId="{F45BFA98-325B-4494-A0D3-754FF278606F}" dt="2026-09-15T16:00:49.278" v="12" actId="20577"/>
          <ac:spMkLst>
            <pc:docMk/>
            <pc:sldMk cId="3288402631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47CE2A-C858-79D5-0E98-1C44AA62D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6DA650-46CB-66F0-C11F-EE8B0A86F7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1150CF-3EC9-E604-FEA3-12E4101E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07960B-F388-0DF4-8A56-F717AB69A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52DB18-37B9-7F39-AD1F-3B292FF4E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0996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AF149-136F-6062-FF2D-0B2985792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C1C48B-AE7E-A6CB-0BF0-BB8D71A8C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D6923F-CC75-B208-E47F-745837BD2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4B2AC6-067D-2BA7-1691-0F1D2D2EB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18D6E4-189C-FBBB-D032-555B8D13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573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FFCE3-92A8-D1AD-ED07-06B89556B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C444CF-7E89-5A0B-5051-73E65E985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E37378-AB10-E410-A775-1D10410B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D63A75-9ACF-EBEA-F649-514EA27A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8C1A5A-5E98-4815-9E5C-DCAAD259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309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E6961-F8A7-E62C-F9F5-F6B119F17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7115DB-7B0D-A5FD-CFDE-0C4514F1FE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377CDD1-9E69-7B27-70DE-FD7E67DCB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21FBDC-87AD-25ED-5E4D-C57C1C889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CC6242-18DE-C9CB-5CA1-A4EAA429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BFA8025-5008-480C-DBC4-41668348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2939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02773-E177-6E4F-CE59-76FA4C96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7EF1AA-412D-D799-DFBC-54A3A0D57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29561A-9444-E78D-2D6A-B0F3B8561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8D8EAED-AE2E-E5AB-6976-FC725F15BB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2DCF4B-FCFE-6E60-1F4C-EF09BE8B65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406133-6B3C-837E-148D-BF19D1F5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48EE055-850B-D8C8-A0E8-D654E5BA1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309F01A-4CB2-69ED-DDC3-991DB5181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93795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D4A635-AA62-4E6D-A89F-A90D65639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26C9083-6471-6F67-81E6-1B283F53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878D8C7-83C2-36FA-2F64-099DAD26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3FB86F1-5EF1-3653-8D2B-6C721C67C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74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4567B9-4362-6F08-3884-04E41FC10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1AE693-4F77-35AB-F203-3B1DC8E0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921646-3BB5-5BD2-0EB9-EDECD246A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58288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32F1B3-1F29-BB29-2082-6C3837B40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C2CE1D-D796-2D85-EB05-FE941AAD4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948E451-2D76-E5F5-D28A-F127A19FB5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CC6C06-B235-43E8-C935-7E26B1890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39D9A2-C649-5F40-6B07-983A39EA4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BDBE7D-CCC0-B62B-5718-5994B76F4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57647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ECA466-8A62-A297-69E8-082854EB8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CC57EC-99A0-CEE6-0B5E-631AECE892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D743DA-474B-29BB-97A8-847E8E679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EE5E11E-074A-5BC3-22F7-AB15558D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B64774-0434-091D-D791-7D3E630F7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5B4293-6322-546B-6F08-A75D260C2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5969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7252D-A830-B3ED-CDE4-D1F7F610C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BA98690-7BC9-5D70-14C4-99809D7A9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087F46-7210-3B6A-644C-7DFD4A528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8B741-6FA7-525F-CD7D-7B652446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648B8F-206C-E6D4-F367-BE4F6E7B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5822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C4DF1F-D43A-BDED-6A17-DF66D244B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D1B86A7-884F-AC0B-BBC8-8E3152BB1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5CCB28-E3D0-9CBB-ECF3-C50116AB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53A308-A79E-008A-EC40-168973ED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034EB7-E300-2EA1-1C3C-18A89E9F4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67539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3D58DD-D4CB-29CF-C5F6-3985278D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735EFF-9127-78C7-3E1B-0B5FA22D6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91447D-8938-E309-49A6-A683CBF23E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5CB08-DCA1-48A9-92CC-D574376F6F56}" type="datetimeFigureOut">
              <a:rPr lang="es-CL" smtClean="0"/>
              <a:t>15-09-2026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FFFF68-C6E8-1A83-ADAD-EA3FDC044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A280BE-FDAD-A5F4-C380-DD53FCE87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A6499-4C43-412E-8CBB-AE190708342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842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11548872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003C83"/>
                </a:solidFill>
                <a:latin typeface="Calibri"/>
              </a:rPr>
              <a:t>Lineamiento de desarrollo de API's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676656"/>
            <a:ext cx="11548872" cy="274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20040" y="914400"/>
            <a:ext cx="5349240" cy="1417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21207" y="868680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7" y="1005840"/>
            <a:ext cx="49834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3C83"/>
                </a:solidFill>
                <a:latin typeface="Calibri"/>
              </a:rPr>
              <a:t>Lineamiento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280160"/>
            <a:ext cx="4946903" cy="1042337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 dirty="0">
                <a:solidFill>
                  <a:srgbClr val="2D3748"/>
                </a:solidFill>
                <a:latin typeface="Calibri"/>
              </a:rPr>
              <a:t>• 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Funcionamiento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sobre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protocolo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HTTP</a:t>
            </a:r>
          </a:p>
          <a:p>
            <a:pPr algn="l">
              <a:spcAft>
                <a:spcPts val="200"/>
              </a:spcAft>
            </a:pPr>
            <a:r>
              <a:rPr sz="950" b="0" i="0" dirty="0">
                <a:solidFill>
                  <a:srgbClr val="2D3748"/>
                </a:solidFill>
                <a:latin typeface="Calibri"/>
              </a:rPr>
              <a:t>• 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Separación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cliente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–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servidor</a:t>
            </a:r>
            <a:endParaRPr sz="950" b="0" i="0" dirty="0">
              <a:solidFill>
                <a:srgbClr val="2D3748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50" b="0" i="0" dirty="0">
                <a:solidFill>
                  <a:srgbClr val="2D3748"/>
                </a:solidFill>
                <a:latin typeface="Calibri"/>
              </a:rPr>
              <a:t>•  API REST —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diseño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en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JSON</a:t>
            </a:r>
          </a:p>
          <a:p>
            <a:pPr algn="l">
              <a:spcAft>
                <a:spcPts val="200"/>
              </a:spcAft>
            </a:pPr>
            <a:r>
              <a:rPr sz="950" b="0" i="0" dirty="0">
                <a:solidFill>
                  <a:srgbClr val="2D3748"/>
                </a:solidFill>
                <a:latin typeface="Calibri"/>
              </a:rPr>
              <a:t>• 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Orientada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a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entidad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negocio</a:t>
            </a:r>
            <a:endParaRPr sz="950" b="0" i="0" dirty="0">
              <a:solidFill>
                <a:srgbClr val="2D3748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950" b="0" i="0" dirty="0">
                <a:solidFill>
                  <a:srgbClr val="2D3748"/>
                </a:solidFill>
                <a:latin typeface="Calibri"/>
              </a:rPr>
              <a:t>• 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Proveedor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de </a:t>
            </a:r>
            <a:r>
              <a:rPr sz="950" b="0" i="0" dirty="0" err="1">
                <a:solidFill>
                  <a:srgbClr val="2D3748"/>
                </a:solidFill>
                <a:latin typeface="Calibri"/>
              </a:rPr>
              <a:t>identidad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Azure AD</a:t>
            </a:r>
          </a:p>
          <a:p>
            <a:pPr algn="l">
              <a:spcAft>
                <a:spcPts val="200"/>
              </a:spcAft>
            </a:pPr>
            <a:r>
              <a:rPr sz="950" b="0" i="0" dirty="0">
                <a:solidFill>
                  <a:srgbClr val="2D3748"/>
                </a:solidFill>
                <a:latin typeface="Calibri"/>
              </a:rPr>
              <a:t>•  .NET Core — Framework .NET </a:t>
            </a:r>
            <a:r>
              <a:rPr lang="es-ES" sz="950" b="0" i="0" dirty="0">
                <a:solidFill>
                  <a:srgbClr val="2D3748"/>
                </a:solidFill>
                <a:latin typeface="Calibri"/>
              </a:rPr>
              <a:t>8 o superior</a:t>
            </a:r>
            <a:r>
              <a:rPr sz="950" b="0" i="0" dirty="0">
                <a:solidFill>
                  <a:srgbClr val="2D3748"/>
                </a:solidFill>
                <a:latin typeface="Calibri"/>
              </a:rPr>
              <a:t> (C#)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423160"/>
            <a:ext cx="5349240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21207" y="2377440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7" y="2514600"/>
            <a:ext cx="49834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3C83"/>
                </a:solidFill>
                <a:latin typeface="Calibri"/>
              </a:rPr>
              <a:t>Diseño de la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2788920"/>
            <a:ext cx="4946903" cy="512064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D3748"/>
                </a:solidFill>
                <a:latin typeface="Calibri"/>
              </a:rPr>
              <a:t>•  Versionamiento de API (indicar la versión) — V1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D3748"/>
                </a:solidFill>
                <a:latin typeface="Calibri"/>
              </a:rPr>
              <a:t>•  Uso de sustantivos (según entidad) — API/ALUMNOS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D3748"/>
                </a:solidFill>
                <a:latin typeface="Calibri"/>
              </a:rPr>
              <a:t>•  Sub-recursos para relaciones — API/ALUMNOS/MATRICULADOS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7" y="3300984"/>
            <a:ext cx="4946903" cy="237744"/>
          </a:xfrm>
          <a:prstGeom prst="roundRect">
            <a:avLst>
              <a:gd name="adj" fmla="val 30000"/>
            </a:avLst>
          </a:prstGeom>
          <a:solidFill>
            <a:srgbClr val="EAF1FB"/>
          </a:solidFill>
          <a:ln w="9525">
            <a:solidFill>
              <a:srgbClr val="003C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7" y="3300984"/>
            <a:ext cx="4946903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 i="0">
                <a:solidFill>
                  <a:srgbClr val="003C83"/>
                </a:solidFill>
                <a:latin typeface="Consolas"/>
              </a:rPr>
              <a:t>https://host:puerto/api/v1/&lt;sustantivo&gt;/&lt;subrecurso&gt;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3703320"/>
            <a:ext cx="5349240" cy="1051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21207" y="3657600"/>
            <a:ext cx="640080" cy="100584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7" y="3794759"/>
            <a:ext cx="49834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C00000"/>
                </a:solidFill>
                <a:latin typeface="Calibri"/>
              </a:rPr>
              <a:t>Métodos 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4069080"/>
            <a:ext cx="4946903" cy="63093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C00000"/>
                </a:solidFill>
                <a:latin typeface="Calibri"/>
              </a:rPr>
              <a:t>C</a:t>
            </a:r>
            <a:r>
              <a:rPr sz="950" b="0" i="0">
                <a:solidFill>
                  <a:srgbClr val="2D3748"/>
                </a:solidFill>
                <a:latin typeface="Calibri"/>
              </a:rPr>
              <a:t>reate   →   Método POST</a:t>
            </a:r>
          </a:p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C00000"/>
                </a:solidFill>
                <a:latin typeface="Calibri"/>
              </a:rPr>
              <a:t>R</a:t>
            </a:r>
            <a:r>
              <a:rPr sz="950" b="0" i="0">
                <a:solidFill>
                  <a:srgbClr val="2D3748"/>
                </a:solidFill>
                <a:latin typeface="Calibri"/>
              </a:rPr>
              <a:t>ead   →   Método de lectura GET</a:t>
            </a:r>
          </a:p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C00000"/>
                </a:solidFill>
                <a:latin typeface="Calibri"/>
              </a:rPr>
              <a:t>U</a:t>
            </a:r>
            <a:r>
              <a:rPr sz="950" b="0" i="0">
                <a:solidFill>
                  <a:srgbClr val="2D3748"/>
                </a:solidFill>
                <a:latin typeface="Calibri"/>
              </a:rPr>
              <a:t>pdate   →   Método de actualización PUT</a:t>
            </a:r>
          </a:p>
          <a:p>
            <a:pPr algn="l">
              <a:spcAft>
                <a:spcPts val="100"/>
              </a:spcAft>
            </a:pPr>
            <a:r>
              <a:rPr sz="980" b="1" i="0">
                <a:solidFill>
                  <a:srgbClr val="C00000"/>
                </a:solidFill>
                <a:latin typeface="Calibri"/>
              </a:rPr>
              <a:t>D</a:t>
            </a:r>
            <a:r>
              <a:rPr sz="950" b="0" i="0">
                <a:solidFill>
                  <a:srgbClr val="2D3748"/>
                </a:solidFill>
                <a:latin typeface="Calibri"/>
              </a:rPr>
              <a:t>elete   →   Método de eliminación DELETE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846319"/>
            <a:ext cx="5349240" cy="16002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21207" y="4800599"/>
            <a:ext cx="640080" cy="100584"/>
          </a:xfrm>
          <a:prstGeom prst="roundRect">
            <a:avLst/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1207" y="4937759"/>
            <a:ext cx="498347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E7D32"/>
                </a:solidFill>
                <a:latin typeface="Calibri"/>
              </a:rPr>
              <a:t>Autenticación y protección de secretos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7" y="5212079"/>
            <a:ext cx="4946903" cy="34747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2D3748"/>
                </a:solidFill>
                <a:latin typeface="Calibri"/>
              </a:rPr>
              <a:t>•  Json Web Token   →   Proveedor de identidad Azure AD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2D3748"/>
                </a:solidFill>
                <a:latin typeface="Calibri"/>
              </a:rPr>
              <a:t>•  Clave de API (x-xmsbs-apikey)   →   Azure Key Vault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7" y="5596127"/>
            <a:ext cx="566928" cy="210312"/>
          </a:xfrm>
          <a:prstGeom prst="roundRect">
            <a:avLst>
              <a:gd name="adj" fmla="val 50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7" y="5596127"/>
            <a:ext cx="566928" cy="21031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750" b="1" i="0">
                <a:solidFill>
                  <a:srgbClr val="FFFFFF"/>
                </a:solidFill>
                <a:latin typeface="Calibri"/>
              </a:rPr>
              <a:t>NUEVO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596127"/>
            <a:ext cx="4343400" cy="219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1" i="0">
                <a:solidFill>
                  <a:srgbClr val="2D3748"/>
                </a:solidFill>
                <a:latin typeface="Calibri"/>
              </a:rPr>
              <a:t>Cadenas de conexión de BD   →   Azure Key Vault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7" y="5833871"/>
            <a:ext cx="4946903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2D3748"/>
                </a:solidFill>
                <a:latin typeface="Calibri"/>
              </a:rPr>
              <a:t>Sin secretos en el servidor   →   Identidad Administrada vía </a:t>
            </a:r>
            <a:r>
              <a:rPr sz="930" b="1" i="0">
                <a:solidFill>
                  <a:srgbClr val="1E7D32"/>
                </a:solidFill>
                <a:latin typeface="Calibri"/>
              </a:rPr>
              <a:t>Azure Arc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7" y="6135623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21207" y="6135623"/>
            <a:ext cx="123444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30" b="1" i="0">
                <a:solidFill>
                  <a:srgbClr val="1E7D32"/>
                </a:solidFill>
                <a:latin typeface="Calibri"/>
              </a:rPr>
              <a:t>Rotación sin CAB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47088" y="6135623"/>
            <a:ext cx="1874519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47088" y="6135623"/>
            <a:ext cx="1874519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30" b="1" i="0">
                <a:solidFill>
                  <a:srgbClr val="1E7D32"/>
                </a:solidFill>
                <a:latin typeface="Calibri"/>
              </a:rPr>
              <a:t>Cero secretos en el servidor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13048" y="6135623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13048" y="6135623"/>
            <a:ext cx="1417320" cy="23774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830" b="1" i="0">
                <a:solidFill>
                  <a:srgbClr val="1E7D32"/>
                </a:solidFill>
                <a:latin typeface="Calibri"/>
              </a:rPr>
              <a:t>Acceso auditado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914400"/>
            <a:ext cx="5989320" cy="1508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099048" y="868680"/>
            <a:ext cx="640080" cy="100584"/>
          </a:xfrm>
          <a:prstGeom prst="roundRect">
            <a:avLst/>
          </a:prstGeom>
          <a:solidFill>
            <a:srgbClr val="003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99048" y="1005840"/>
            <a:ext cx="562355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3C83"/>
                </a:solidFill>
                <a:latin typeface="Calibri"/>
              </a:rPr>
              <a:t>Documentación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1298448"/>
            <a:ext cx="3246120" cy="10515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D3748"/>
                </a:solidFill>
                <a:latin typeface="Calibri"/>
              </a:rPr>
              <a:t>•  Documentación con Swagger (OpenAPI)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2D3748"/>
                </a:solidFill>
                <a:latin typeface="Calibri"/>
              </a:rPr>
              <a:t>     ▸ Información general de la API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2D3748"/>
                </a:solidFill>
                <a:latin typeface="Calibri"/>
              </a:rPr>
              <a:t>     ▸ Rutas disponibles (endpoints)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2D3748"/>
                </a:solidFill>
                <a:latin typeface="Calibri"/>
              </a:rPr>
              <a:t>     ▸ Operaciones disponibles (PUT, GET…)</a:t>
            </a:r>
          </a:p>
          <a:p>
            <a:pPr algn="l">
              <a:spcAft>
                <a:spcPts val="200"/>
              </a:spcAft>
            </a:pPr>
            <a:r>
              <a:rPr sz="930" b="0" i="0">
                <a:solidFill>
                  <a:srgbClr val="2D3748"/>
                </a:solidFill>
                <a:latin typeface="Calibri"/>
              </a:rPr>
              <a:t>     ▸ Request y response de cada operación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60" y="1298448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509760" y="1298448"/>
            <a:ext cx="5486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1298448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D3748"/>
                </a:solidFill>
                <a:latin typeface="Calibri"/>
              </a:rPr>
              <a:t>Respuesta exitosa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09760" y="1664207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09760" y="1664207"/>
            <a:ext cx="5486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401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49840" y="1664207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D3748"/>
                </a:solidFill>
                <a:latin typeface="Calibri"/>
              </a:rPr>
              <a:t>Respuesta autorización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2029967"/>
            <a:ext cx="548640" cy="292608"/>
          </a:xfrm>
          <a:prstGeom prst="roundRect">
            <a:avLst>
              <a:gd name="adj" fmla="val 50000"/>
            </a:avLst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509760" y="2029967"/>
            <a:ext cx="54864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500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2029967"/>
            <a:ext cx="155448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D3748"/>
                </a:solidFill>
                <a:latin typeface="Calibri"/>
              </a:rPr>
              <a:t>Respuesta error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97880" y="2560320"/>
            <a:ext cx="598932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099048" y="2514600"/>
            <a:ext cx="640080" cy="100584"/>
          </a:xfrm>
          <a:prstGeom prst="roundRect">
            <a:avLst/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99048" y="2651760"/>
            <a:ext cx="5623559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003C83"/>
                </a:solidFill>
                <a:latin typeface="Calibri"/>
              </a:rPr>
              <a:t>Arquitectura en capas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9048" y="2944368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099048" y="2944368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Presentación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2944368"/>
            <a:ext cx="37033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D3748"/>
                </a:solidFill>
                <a:latin typeface="Calibri"/>
              </a:rPr>
              <a:t>Controlador de API (endpoint)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9048" y="3360420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99048" y="3360420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Aplicación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3360420"/>
            <a:ext cx="37033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D3748"/>
                </a:solidFill>
                <a:latin typeface="Calibri"/>
              </a:rPr>
              <a:t>Gestión de respuesta (recibe la solicitud HTTP)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099048" y="3776472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1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99048" y="3776472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Autenticación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3776472"/>
            <a:ext cx="37033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E7D32"/>
                </a:solidFill>
                <a:latin typeface="Calibri"/>
              </a:rPr>
              <a:t>Token + Key Vault vía Azure Arc (sin secretos locales)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99048" y="4192524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99048" y="4192524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Útiles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4192524"/>
            <a:ext cx="37033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D3748"/>
                </a:solidFill>
                <a:latin typeface="Calibri"/>
              </a:rPr>
              <a:t>Transformación de variables y validaciones de campos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99048" y="4608576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99048" y="4608576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Servicios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79" y="4608576"/>
            <a:ext cx="37033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D3748"/>
                </a:solidFill>
                <a:latin typeface="Calibri"/>
              </a:rPr>
              <a:t>Lógica de negocio de la funcionalidad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99048" y="5024628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99048" y="5024628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Logs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55279" y="5024628"/>
            <a:ext cx="37033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D3748"/>
                </a:solidFill>
                <a:latin typeface="Calibri"/>
              </a:rPr>
              <a:t>Auditoría y control de errores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99048" y="5440680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099048" y="5440680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Repository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55279" y="5440680"/>
            <a:ext cx="37033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D3748"/>
                </a:solidFill>
                <a:latin typeface="Calibri"/>
              </a:rPr>
              <a:t>Acceso a los datos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099048" y="5856732"/>
            <a:ext cx="1737360" cy="342900"/>
          </a:xfrm>
          <a:prstGeom prst="roundRect">
            <a:avLst>
              <a:gd name="adj" fmla="val 50000"/>
            </a:avLst>
          </a:prstGeom>
          <a:solidFill>
            <a:srgbClr val="003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099048" y="5856732"/>
            <a:ext cx="173736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30" b="1" i="0">
                <a:solidFill>
                  <a:srgbClr val="FFFFFF"/>
                </a:solidFill>
                <a:latin typeface="Calibri"/>
              </a:rPr>
              <a:t>Capa – Unit_test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955279" y="5856732"/>
            <a:ext cx="3703320" cy="3429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2D3748"/>
                </a:solidFill>
                <a:latin typeface="Calibri"/>
              </a:rPr>
              <a:t>Pruebas unitarias (validaciones)</a:t>
            </a:r>
          </a:p>
        </p:txBody>
      </p:sp>
    </p:spTree>
    <p:extLst>
      <p:ext uri="{BB962C8B-B14F-4D97-AF65-F5344CB8AC3E}">
        <p14:creationId xmlns:p14="http://schemas.microsoft.com/office/powerpoint/2010/main" val="3288402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074CA20-9926-5B8C-7A1F-1DC814967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" y="773507"/>
            <a:ext cx="2790535" cy="648894"/>
          </a:xfrm>
          <a:prstGeom prst="rect">
            <a:avLst/>
          </a:prstGeom>
          <a:ln/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CD1C0B7-4B80-9654-D848-4869E887D1C5}"/>
              </a:ext>
            </a:extLst>
          </p:cNvPr>
          <p:cNvSpPr txBox="1"/>
          <p:nvPr/>
        </p:nvSpPr>
        <p:spPr>
          <a:xfrm>
            <a:off x="0" y="-27915"/>
            <a:ext cx="8609772" cy="523220"/>
          </a:xfrm>
          <a:prstGeom prst="rect">
            <a:avLst/>
          </a:prstGeom>
          <a:noFill/>
          <a:ln/>
        </p:spPr>
        <p:txBody>
          <a:bodyPr wrap="square" lIns="91440" tIns="45720" rIns="91440" bIns="45720" anchor="t">
            <a:spAutoFit/>
          </a:bodyPr>
          <a:lstStyle/>
          <a:p>
            <a:r>
              <a:rPr lang="es-ES" sz="2800" b="1" dirty="0">
                <a:ln w="0"/>
                <a:solidFill>
                  <a:srgbClr val="003C83"/>
                </a:solidFill>
                <a:latin typeface="Calibri"/>
              </a:rPr>
              <a:t>Detalle documentación API</a:t>
            </a:r>
          </a:p>
        </p:txBody>
      </p:sp>
      <p:cxnSp>
        <p:nvCxnSpPr>
          <p:cNvPr id="9" name="4 Conector recto">
            <a:extLst>
              <a:ext uri="{FF2B5EF4-FFF2-40B4-BE49-F238E27FC236}">
                <a16:creationId xmlns:a16="http://schemas.microsoft.com/office/drawing/2014/main" id="{354599D5-53D3-E4F8-07D8-6D1303E79DC7}"/>
              </a:ext>
            </a:extLst>
          </p:cNvPr>
          <p:cNvCxnSpPr/>
          <p:nvPr/>
        </p:nvCxnSpPr>
        <p:spPr>
          <a:xfrm>
            <a:off x="0" y="572107"/>
            <a:ext cx="853244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0" name="Imagen 9">
            <a:extLst>
              <a:ext uri="{FF2B5EF4-FFF2-40B4-BE49-F238E27FC236}">
                <a16:creationId xmlns:a16="http://schemas.microsoft.com/office/drawing/2014/main" id="{434608C7-B560-ADA8-6825-34245F52B8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67" t="6486" r="28108"/>
          <a:stretch/>
        </p:blipFill>
        <p:spPr>
          <a:xfrm>
            <a:off x="1441917" y="2564975"/>
            <a:ext cx="2117725" cy="84255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DDDF9A0-467F-66BD-55B8-BBB6EA79C4FF}"/>
              </a:ext>
            </a:extLst>
          </p:cNvPr>
          <p:cNvSpPr txBox="1"/>
          <p:nvPr/>
        </p:nvSpPr>
        <p:spPr>
          <a:xfrm>
            <a:off x="1079500" y="1852401"/>
            <a:ext cx="3429000" cy="569387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r>
              <a:rPr lang="es-CL" sz="11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Token JWT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establece que todas las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API’s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deben manejar en su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header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la autorización del JWT  </a:t>
            </a:r>
            <a:r>
              <a:rPr lang="es-CL" sz="1100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</a:t>
            </a:r>
            <a:endParaRPr lang="es-CL" sz="1100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739B432-6C72-A799-3C79-8D13EE9FF45B}"/>
              </a:ext>
            </a:extLst>
          </p:cNvPr>
          <p:cNvSpPr txBox="1"/>
          <p:nvPr/>
        </p:nvSpPr>
        <p:spPr>
          <a:xfrm>
            <a:off x="4618575" y="1852400"/>
            <a:ext cx="3429000" cy="538609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r>
              <a:rPr lang="es-CL" sz="11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Descripción de la API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establece indica que todas las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Api’s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deben tener una descripción de cual es el objetivo al cual responde (entidad)</a:t>
            </a:r>
            <a:endParaRPr lang="es-CL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14605764-A765-4266-9139-0DEB95568A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724" y="2551758"/>
            <a:ext cx="2367675" cy="8502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EAAD98F-B13C-4A9F-FDB5-B80A6D68B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829" y="2544756"/>
            <a:ext cx="2711589" cy="85729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202A225-4C0A-DDBA-7FDD-418640973113}"/>
              </a:ext>
            </a:extLst>
          </p:cNvPr>
          <p:cNvSpPr txBox="1"/>
          <p:nvPr/>
        </p:nvSpPr>
        <p:spPr>
          <a:xfrm>
            <a:off x="8555575" y="1883179"/>
            <a:ext cx="3429000" cy="538609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r>
              <a:rPr lang="es-CL" sz="11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Descripción del </a:t>
            </a:r>
            <a:r>
              <a:rPr lang="es-CL" sz="1100" b="1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endpoint</a:t>
            </a:r>
            <a:r>
              <a:rPr lang="es-CL" sz="11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establece indica que todas los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endpoint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deben describir cual es su funcionalidad </a:t>
            </a:r>
            <a:endParaRPr lang="es-CL" sz="11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A16001A3-9EB1-6EC6-6836-3ED1743C33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099" y="4369296"/>
            <a:ext cx="2489328" cy="123045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026E53E9-EFDF-264B-D4B8-D2074A04782D}"/>
              </a:ext>
            </a:extLst>
          </p:cNvPr>
          <p:cNvSpPr txBox="1"/>
          <p:nvPr/>
        </p:nvSpPr>
        <p:spPr>
          <a:xfrm>
            <a:off x="1016000" y="3656722"/>
            <a:ext cx="3429000" cy="538609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r>
              <a:rPr lang="es-CL" sz="1100" b="1" dirty="0">
                <a:solidFill>
                  <a:srgbClr val="333333"/>
                </a:solidFill>
                <a:latin typeface="Arial" panose="020B0604020202020204" pitchFamily="34" charset="0"/>
              </a:rPr>
              <a:t>Descripción del Atributos de entrada</a:t>
            </a:r>
            <a:endParaRPr lang="es-CL" sz="11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establece que es necesario poder indicar una descripción del parámetro de entrada que se requiere recibir </a:t>
            </a:r>
            <a:endParaRPr lang="es-CL" sz="11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1A22D3C-7822-440C-8C1F-53DC00AC00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1315" y="4393693"/>
            <a:ext cx="1949455" cy="12938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2D7A97B1-2BE4-B0A9-98BA-B1C00215DD28}"/>
              </a:ext>
            </a:extLst>
          </p:cNvPr>
          <p:cNvSpPr txBox="1"/>
          <p:nvPr/>
        </p:nvSpPr>
        <p:spPr>
          <a:xfrm>
            <a:off x="4749800" y="3742763"/>
            <a:ext cx="3429000" cy="538609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r>
              <a:rPr lang="es-CL" sz="1100" b="1" dirty="0">
                <a:solidFill>
                  <a:srgbClr val="333333"/>
                </a:solidFill>
                <a:latin typeface="Arial" panose="020B0604020202020204" pitchFamily="34" charset="0"/>
              </a:rPr>
              <a:t>Ejemplo del </a:t>
            </a:r>
            <a:r>
              <a:rPr lang="es-CL" sz="1100" b="1" dirty="0" err="1">
                <a:solidFill>
                  <a:srgbClr val="333333"/>
                </a:solidFill>
                <a:latin typeface="Arial" panose="020B0604020202020204" pitchFamily="34" charset="0"/>
              </a:rPr>
              <a:t>json</a:t>
            </a:r>
            <a:r>
              <a:rPr lang="es-CL" sz="1100" b="1" dirty="0">
                <a:solidFill>
                  <a:srgbClr val="333333"/>
                </a:solidFill>
                <a:latin typeface="Arial" panose="020B0604020202020204" pitchFamily="34" charset="0"/>
              </a:rPr>
              <a:t> de respuesta</a:t>
            </a:r>
            <a:endParaRPr lang="es-CL" sz="11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requiere por cada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enpoint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detallar el formato del </a:t>
            </a:r>
            <a:r>
              <a:rPr lang="es-CL" sz="90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de ejemplo que se entregara como respuesta </a:t>
            </a:r>
            <a:endParaRPr lang="es-CL" sz="11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341430A-D863-5F70-7524-017262FFD7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3702" y="4393693"/>
            <a:ext cx="2711589" cy="86131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138BB59-90FD-AE8E-884D-331826A4AD86}"/>
              </a:ext>
            </a:extLst>
          </p:cNvPr>
          <p:cNvSpPr txBox="1"/>
          <p:nvPr/>
        </p:nvSpPr>
        <p:spPr>
          <a:xfrm>
            <a:off x="8763000" y="3715813"/>
            <a:ext cx="3429000" cy="538609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r>
              <a:rPr lang="es-CL" sz="1100" b="1" dirty="0">
                <a:solidFill>
                  <a:srgbClr val="333333"/>
                </a:solidFill>
                <a:latin typeface="Arial" panose="020B0604020202020204" pitchFamily="34" charset="0"/>
              </a:rPr>
              <a:t>Descripción Código de respuesta</a:t>
            </a:r>
            <a:endParaRPr lang="es-CL" sz="1100" b="1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L" sz="9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 debe especificar con una descripción que significa cada código de respuesta </a:t>
            </a:r>
            <a:endParaRPr lang="es-CL" sz="1100" dirty="0"/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55533A65-E6F5-62C3-D1E7-01362A1F1DA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1483" y="2017309"/>
            <a:ext cx="1595884" cy="489457"/>
          </a:xfrm>
          <a:prstGeom prst="bentConnector2">
            <a:avLst/>
          </a:prstGeom>
          <a:noFill/>
          <a:ln w="28575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FA9DB13C-2798-2E2C-95D8-684CC77113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91689" y="3681297"/>
            <a:ext cx="1755472" cy="489457"/>
          </a:xfrm>
          <a:prstGeom prst="bentConnector2">
            <a:avLst/>
          </a:prstGeom>
          <a:noFill/>
          <a:ln w="28575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D73F7F6C-B49C-6527-987D-B34AF74FD18E}"/>
              </a:ext>
            </a:extLst>
          </p:cNvPr>
          <p:cNvCxnSpPr>
            <a:cxnSpLocks/>
          </p:cNvCxnSpPr>
          <p:nvPr/>
        </p:nvCxnSpPr>
        <p:spPr>
          <a:xfrm>
            <a:off x="7697086" y="4801645"/>
            <a:ext cx="553884" cy="4233"/>
          </a:xfrm>
          <a:prstGeom prst="straightConnector1">
            <a:avLst/>
          </a:prstGeom>
          <a:noFill/>
          <a:ln w="28575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AC10C321-040A-DC16-B99C-11172D6B48DF}"/>
              </a:ext>
            </a:extLst>
          </p:cNvPr>
          <p:cNvCxnSpPr>
            <a:cxnSpLocks/>
          </p:cNvCxnSpPr>
          <p:nvPr/>
        </p:nvCxnSpPr>
        <p:spPr>
          <a:xfrm>
            <a:off x="7697086" y="3048289"/>
            <a:ext cx="553884" cy="4233"/>
          </a:xfrm>
          <a:prstGeom prst="straightConnector1">
            <a:avLst/>
          </a:prstGeom>
          <a:noFill/>
          <a:ln w="28575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B3991CAD-6235-3B5C-1C0C-A3D311446766}"/>
              </a:ext>
            </a:extLst>
          </p:cNvPr>
          <p:cNvCxnSpPr>
            <a:cxnSpLocks/>
          </p:cNvCxnSpPr>
          <p:nvPr/>
        </p:nvCxnSpPr>
        <p:spPr>
          <a:xfrm>
            <a:off x="4163500" y="3052522"/>
            <a:ext cx="553884" cy="4233"/>
          </a:xfrm>
          <a:prstGeom prst="straightConnector1">
            <a:avLst/>
          </a:prstGeom>
          <a:noFill/>
          <a:ln w="28575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0A09F0E2-05D2-C43C-7AFB-444364423100}"/>
              </a:ext>
            </a:extLst>
          </p:cNvPr>
          <p:cNvCxnSpPr>
            <a:cxnSpLocks/>
          </p:cNvCxnSpPr>
          <p:nvPr/>
        </p:nvCxnSpPr>
        <p:spPr>
          <a:xfrm>
            <a:off x="4203829" y="4801645"/>
            <a:ext cx="553884" cy="4233"/>
          </a:xfrm>
          <a:prstGeom prst="straightConnector1">
            <a:avLst/>
          </a:prstGeom>
          <a:noFill/>
          <a:ln w="28575">
            <a:solidFill>
              <a:srgbClr val="C00000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0" name="Imagen" descr="Imagen">
            <a:extLst>
              <a:ext uri="{FF2B5EF4-FFF2-40B4-BE49-F238E27FC236}">
                <a16:creationId xmlns:a16="http://schemas.microsoft.com/office/drawing/2014/main" id="{D94EE8CE-56E3-E246-01FC-E20E9CFD91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71681" y="175334"/>
            <a:ext cx="430274" cy="56864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2942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3197</TotalTime>
  <Words>435</Words>
  <Application>Microsoft Office PowerPoint</Application>
  <PresentationFormat>Panorámica</PresentationFormat>
  <Paragraphs>69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Andres Carreño Araya</dc:creator>
  <cp:lastModifiedBy>Fernando Valdés</cp:lastModifiedBy>
  <cp:revision>1</cp:revision>
  <dcterms:created xsi:type="dcterms:W3CDTF">2023-11-28T21:09:01Z</dcterms:created>
  <dcterms:modified xsi:type="dcterms:W3CDTF">2026-09-15T16:00:54Z</dcterms:modified>
</cp:coreProperties>
</file>