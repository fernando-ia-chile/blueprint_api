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75" r:id="rId6"/>
    <p:sldId id="256" r:id="rId7"/>
    <p:sldId id="277" r:id="rId8"/>
    <p:sldId id="276" r:id="rId9"/>
    <p:sldId id="257" r:id="rId10"/>
    <p:sldId id="278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A2A44-3843-4A74-8E0F-10732CF77A57}" v="6" dt="2026-10-20T00:10:27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Valdés" userId="eab78425898f3222" providerId="LiveId" clId="{F45BFA98-325B-4494-A0D3-754FF278606F}"/>
    <pc:docChg chg="addSld modSld sldOrd">
      <pc:chgData name="Fernando Valdés" userId="eab78425898f3222" providerId="LiveId" clId="{F45BFA98-325B-4494-A0D3-754FF278606F}" dt="2026-10-20T00:13:12.576" v="15" actId="20577"/>
      <pc:docMkLst>
        <pc:docMk/>
      </pc:docMkLst>
      <pc:sldChg chg="add ord">
        <pc:chgData name="Fernando Valdés" userId="eab78425898f3222" providerId="LiveId" clId="{F45BFA98-325B-4494-A0D3-754FF278606F}" dt="2026-10-20T00:10:40.995" v="9"/>
        <pc:sldMkLst>
          <pc:docMk/>
          <pc:sldMk cId="0" sldId="257"/>
        </pc:sldMkLst>
      </pc:sldChg>
      <pc:sldChg chg="addSp modSp add mod ord">
        <pc:chgData name="Fernando Valdés" userId="eab78425898f3222" providerId="LiveId" clId="{F45BFA98-325B-4494-A0D3-754FF278606F}" dt="2026-10-20T00:13:12.576" v="15" actId="20577"/>
        <pc:sldMkLst>
          <pc:docMk/>
          <pc:sldMk cId="0" sldId="278"/>
        </pc:sldMkLst>
        <pc:spChg chg="mod">
          <ac:chgData name="Fernando Valdés" userId="eab78425898f3222" providerId="LiveId" clId="{F45BFA98-325B-4494-A0D3-754FF278606F}" dt="2026-10-20T00:13:12.576" v="15" actId="20577"/>
          <ac:spMkLst>
            <pc:docMk/>
            <pc:sldMk cId="0" sldId="278"/>
            <ac:spMk id="16" creationId="{00000000-0000-0000-0000-000000000000}"/>
          </ac:spMkLst>
        </pc:spChg>
        <pc:spChg chg="add mod">
          <ac:chgData name="Fernando Valdés" userId="eab78425898f3222" providerId="LiveId" clId="{F45BFA98-325B-4494-A0D3-754FF278606F}" dt="2026-10-20T00:10:11.568" v="2"/>
          <ac:spMkLst>
            <pc:docMk/>
            <pc:sldMk cId="0" sldId="278"/>
            <ac:spMk id="41" creationId="{B8ABFD5D-F9FF-A004-88AF-7F39CB3D87FE}"/>
          </ac:spMkLst>
        </pc:spChg>
        <pc:spChg chg="add mod">
          <ac:chgData name="Fernando Valdés" userId="eab78425898f3222" providerId="LiveId" clId="{F45BFA98-325B-4494-A0D3-754FF278606F}" dt="2026-10-20T00:10:17.456" v="4"/>
          <ac:spMkLst>
            <pc:docMk/>
            <pc:sldMk cId="0" sldId="278"/>
            <ac:spMk id="42" creationId="{6C59A2AE-E159-8C17-BD89-FF754AF487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7CE2A-C858-79D5-0E98-1C44AA62D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DA650-46CB-66F0-C11F-EE8B0A86F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1150CF-3EC9-E604-FEA3-12E4101E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07960B-F388-0DF4-8A56-F717AB69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52DB18-37B9-7F39-AD1F-3B292FF4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0996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AF149-136F-6062-FF2D-0B2985792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C1C48B-AE7E-A6CB-0BF0-BB8D71A8C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D6923F-CC75-B208-E47F-745837BD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B2AC6-067D-2BA7-1691-0F1D2D2E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18D6E4-189C-FBBB-D032-555B8D13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573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FFCE3-92A8-D1AD-ED07-06B89556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C444CF-7E89-5A0B-5051-73E65E985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37378-AB10-E410-A775-1D10410B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63A75-9ACF-EBEA-F649-514EA27A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C1A5A-5E98-4815-9E5C-DCAAD259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309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E6961-F8A7-E62C-F9F5-F6B119F1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7115DB-7B0D-A5FD-CFDE-0C4514F1F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77CDD1-9E69-7B27-70DE-FD7E67DCB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21FBDC-87AD-25ED-5E4D-C57C1C88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C6242-18DE-C9CB-5CA1-A4EAA429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FA8025-5008-480C-DBC4-41668348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293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02773-E177-6E4F-CE59-76FA4C96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7EF1AA-412D-D799-DFBC-54A3A0D57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29561A-9444-E78D-2D6A-B0F3B8561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D8EAED-AE2E-E5AB-6976-FC725F15B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2DCF4B-FCFE-6E60-1F4C-EF09BE8B6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406133-6B3C-837E-148D-BF19D1F5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48EE055-850B-D8C8-A0E8-D654E5BA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09F01A-4CB2-69ED-DDC3-991DB518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379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4A635-AA62-4E6D-A89F-A90D6563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6C9083-6471-6F67-81E6-1B283F53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78D8C7-83C2-36FA-2F64-099DAD26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FB86F1-5EF1-3653-8D2B-6C721C67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74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4567B9-4362-6F08-3884-04E41FC1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1AE693-4F77-35AB-F203-3B1DC8E0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921646-3BB5-5BD2-0EB9-EDECD246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828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2F1B3-1F29-BB29-2082-6C3837B4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C2CE1D-D796-2D85-EB05-FE941AAD4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48E451-2D76-E5F5-D28A-F127A19FB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CC6C06-B235-43E8-C935-7E26B189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39D9A2-C649-5F40-6B07-983A39EA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BDBE7D-CCC0-B62B-5718-5994B76F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764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CA466-8A62-A297-69E8-082854EB8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CC57EC-99A0-CEE6-0B5E-631AECE89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D743DA-474B-29BB-97A8-847E8E679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E5E11E-074A-5BC3-22F7-AB15558D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64774-0434-091D-D791-7D3E630F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5B4293-6322-546B-6F08-A75D260C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596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7252D-A830-B3ED-CDE4-D1F7F610C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A98690-7BC9-5D70-14C4-99809D7A9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87F46-7210-3B6A-644C-7DFD4A52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8B741-6FA7-525F-CD7D-7B652446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648B8F-206C-E6D4-F367-BE4F6E7B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5822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C4DF1F-D43A-BDED-6A17-DF66D244B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1B86A7-884F-AC0B-BBC8-8E3152BB1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5CCB28-E3D0-9CBB-ECF3-C50116AB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53A308-A79E-008A-EC40-168973ED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034EB7-E300-2EA1-1C3C-18A89E9F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753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3D58DD-D4CB-29CF-C5F6-3985278D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735EFF-9127-78C7-3E1B-0B5FA22D6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91447D-8938-E309-49A6-A683CBF23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5CB08-DCA1-48A9-92CC-D574376F6F56}" type="datetimeFigureOut">
              <a:rPr lang="es-CL" smtClean="0"/>
              <a:t>19-10-2026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FFFF68-C6E8-1A83-ADAD-EA3FDC044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A280BE-FDAD-A5F4-C380-DD53FCE87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842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6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7.tif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7.t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8AB44E7-8D48-5C46-779B-BEE806A95B57}"/>
              </a:ext>
            </a:extLst>
          </p:cNvPr>
          <p:cNvSpPr txBox="1"/>
          <p:nvPr/>
        </p:nvSpPr>
        <p:spPr>
          <a:xfrm>
            <a:off x="0" y="-27915"/>
            <a:ext cx="860977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2800" dirty="0">
                <a:ln w="0"/>
              </a:rPr>
              <a:t>Lineamiento de Integraciones </a:t>
            </a:r>
          </a:p>
        </p:txBody>
      </p:sp>
      <p:cxnSp>
        <p:nvCxnSpPr>
          <p:cNvPr id="5" name="4 Conector recto">
            <a:extLst>
              <a:ext uri="{FF2B5EF4-FFF2-40B4-BE49-F238E27FC236}">
                <a16:creationId xmlns:a16="http://schemas.microsoft.com/office/drawing/2014/main" id="{F232BE56-5434-BF77-B31A-0C1A21A7FE40}"/>
              </a:ext>
            </a:extLst>
          </p:cNvPr>
          <p:cNvCxnSpPr/>
          <p:nvPr/>
        </p:nvCxnSpPr>
        <p:spPr>
          <a:xfrm>
            <a:off x="0" y="572107"/>
            <a:ext cx="85324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11704E82-AC03-C7D7-7E9A-06F08D9982A3}"/>
              </a:ext>
            </a:extLst>
          </p:cNvPr>
          <p:cNvGrpSpPr/>
          <p:nvPr/>
        </p:nvGrpSpPr>
        <p:grpSpPr>
          <a:xfrm>
            <a:off x="143175" y="1264068"/>
            <a:ext cx="5781675" cy="2390522"/>
            <a:chOff x="3676048" y="1631475"/>
            <a:chExt cx="6410927" cy="2561709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19D8B9CA-5463-C330-88C6-39E6972115AE}"/>
                </a:ext>
              </a:extLst>
            </p:cNvPr>
            <p:cNvSpPr/>
            <p:nvPr/>
          </p:nvSpPr>
          <p:spPr>
            <a:xfrm>
              <a:off x="3676048" y="1631475"/>
              <a:ext cx="694528" cy="992183"/>
            </a:xfrm>
            <a:custGeom>
              <a:avLst/>
              <a:gdLst>
                <a:gd name="connsiteX0" fmla="*/ 0 w 992182"/>
                <a:gd name="connsiteY0" fmla="*/ 0 h 694527"/>
                <a:gd name="connsiteX1" fmla="*/ 644919 w 992182"/>
                <a:gd name="connsiteY1" fmla="*/ 0 h 694527"/>
                <a:gd name="connsiteX2" fmla="*/ 992182 w 992182"/>
                <a:gd name="connsiteY2" fmla="*/ 347264 h 694527"/>
                <a:gd name="connsiteX3" fmla="*/ 644919 w 992182"/>
                <a:gd name="connsiteY3" fmla="*/ 694527 h 694527"/>
                <a:gd name="connsiteX4" fmla="*/ 0 w 992182"/>
                <a:gd name="connsiteY4" fmla="*/ 694527 h 694527"/>
                <a:gd name="connsiteX5" fmla="*/ 347264 w 992182"/>
                <a:gd name="connsiteY5" fmla="*/ 347264 h 694527"/>
                <a:gd name="connsiteX6" fmla="*/ 0 w 992182"/>
                <a:gd name="connsiteY6" fmla="*/ 0 h 69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2182" h="694527">
                  <a:moveTo>
                    <a:pt x="992181" y="0"/>
                  </a:moveTo>
                  <a:lnTo>
                    <a:pt x="992181" y="451443"/>
                  </a:lnTo>
                  <a:lnTo>
                    <a:pt x="496090" y="694527"/>
                  </a:lnTo>
                  <a:lnTo>
                    <a:pt x="1" y="451443"/>
                  </a:lnTo>
                  <a:lnTo>
                    <a:pt x="1" y="0"/>
                  </a:lnTo>
                  <a:lnTo>
                    <a:pt x="496090" y="243085"/>
                  </a:lnTo>
                  <a:lnTo>
                    <a:pt x="992181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6" tIns="355520" rIns="8255" bIns="355518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300" kern="1200" dirty="0"/>
                <a:t>Legados</a:t>
              </a:r>
              <a:endParaRPr lang="es-CL" sz="1300" kern="1200" dirty="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5191BE8C-6734-F6CD-9499-AA8F2F9E78AC}"/>
                </a:ext>
              </a:extLst>
            </p:cNvPr>
            <p:cNvSpPr/>
            <p:nvPr/>
          </p:nvSpPr>
          <p:spPr>
            <a:xfrm>
              <a:off x="4370575" y="1631477"/>
              <a:ext cx="5716400" cy="644918"/>
            </a:xfrm>
            <a:custGeom>
              <a:avLst/>
              <a:gdLst>
                <a:gd name="connsiteX0" fmla="*/ 107488 w 644918"/>
                <a:gd name="connsiteY0" fmla="*/ 0 h 7433472"/>
                <a:gd name="connsiteX1" fmla="*/ 537430 w 644918"/>
                <a:gd name="connsiteY1" fmla="*/ 0 h 7433472"/>
                <a:gd name="connsiteX2" fmla="*/ 644918 w 644918"/>
                <a:gd name="connsiteY2" fmla="*/ 107488 h 7433472"/>
                <a:gd name="connsiteX3" fmla="*/ 644918 w 644918"/>
                <a:gd name="connsiteY3" fmla="*/ 7433472 h 7433472"/>
                <a:gd name="connsiteX4" fmla="*/ 644918 w 644918"/>
                <a:gd name="connsiteY4" fmla="*/ 7433472 h 7433472"/>
                <a:gd name="connsiteX5" fmla="*/ 0 w 644918"/>
                <a:gd name="connsiteY5" fmla="*/ 7433472 h 7433472"/>
                <a:gd name="connsiteX6" fmla="*/ 0 w 644918"/>
                <a:gd name="connsiteY6" fmla="*/ 7433472 h 7433472"/>
                <a:gd name="connsiteX7" fmla="*/ 0 w 644918"/>
                <a:gd name="connsiteY7" fmla="*/ 107488 h 7433472"/>
                <a:gd name="connsiteX8" fmla="*/ 107488 w 644918"/>
                <a:gd name="connsiteY8" fmla="*/ 0 h 7433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4918" h="7433472">
                  <a:moveTo>
                    <a:pt x="644918" y="1238935"/>
                  </a:moveTo>
                  <a:lnTo>
                    <a:pt x="644918" y="6194537"/>
                  </a:lnTo>
                  <a:cubicBezTo>
                    <a:pt x="644918" y="6878779"/>
                    <a:pt x="640743" y="7433466"/>
                    <a:pt x="635592" y="7433466"/>
                  </a:cubicBezTo>
                  <a:lnTo>
                    <a:pt x="0" y="7433466"/>
                  </a:lnTo>
                  <a:lnTo>
                    <a:pt x="0" y="743346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35592" y="6"/>
                  </a:lnTo>
                  <a:cubicBezTo>
                    <a:pt x="640743" y="6"/>
                    <a:pt x="644918" y="554693"/>
                    <a:pt x="644918" y="1238935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128" tIns="43547" rIns="43547" bIns="43547" numCol="1" spcCol="1270" anchor="ctr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/>
                <a:t>Sistemas/Proyecto que están actualmente funcionando y no requieren cambios</a:t>
              </a:r>
              <a:endParaRPr lang="es-CL" sz="1600" kern="1200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60B624D0-AA89-FF27-C936-97A18C10B897}"/>
                </a:ext>
              </a:extLst>
            </p:cNvPr>
            <p:cNvSpPr/>
            <p:nvPr/>
          </p:nvSpPr>
          <p:spPr>
            <a:xfrm>
              <a:off x="3676048" y="2416238"/>
              <a:ext cx="694528" cy="992183"/>
            </a:xfrm>
            <a:custGeom>
              <a:avLst/>
              <a:gdLst>
                <a:gd name="connsiteX0" fmla="*/ 0 w 992182"/>
                <a:gd name="connsiteY0" fmla="*/ 0 h 694527"/>
                <a:gd name="connsiteX1" fmla="*/ 644919 w 992182"/>
                <a:gd name="connsiteY1" fmla="*/ 0 h 694527"/>
                <a:gd name="connsiteX2" fmla="*/ 992182 w 992182"/>
                <a:gd name="connsiteY2" fmla="*/ 347264 h 694527"/>
                <a:gd name="connsiteX3" fmla="*/ 644919 w 992182"/>
                <a:gd name="connsiteY3" fmla="*/ 694527 h 694527"/>
                <a:gd name="connsiteX4" fmla="*/ 0 w 992182"/>
                <a:gd name="connsiteY4" fmla="*/ 694527 h 694527"/>
                <a:gd name="connsiteX5" fmla="*/ 347264 w 992182"/>
                <a:gd name="connsiteY5" fmla="*/ 347264 h 694527"/>
                <a:gd name="connsiteX6" fmla="*/ 0 w 992182"/>
                <a:gd name="connsiteY6" fmla="*/ 0 h 69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2182" h="694527">
                  <a:moveTo>
                    <a:pt x="992181" y="0"/>
                  </a:moveTo>
                  <a:lnTo>
                    <a:pt x="992181" y="451443"/>
                  </a:lnTo>
                  <a:lnTo>
                    <a:pt x="496090" y="694527"/>
                  </a:lnTo>
                  <a:lnTo>
                    <a:pt x="1" y="451443"/>
                  </a:lnTo>
                  <a:lnTo>
                    <a:pt x="1" y="0"/>
                  </a:lnTo>
                  <a:lnTo>
                    <a:pt x="496090" y="243085"/>
                  </a:lnTo>
                  <a:lnTo>
                    <a:pt x="992181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6" tIns="355520" rIns="8255" bIns="355518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300" kern="1200" dirty="0"/>
                <a:t>En cursos</a:t>
              </a:r>
              <a:endParaRPr lang="es-CL" sz="1300" kern="1200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2491F843-150E-9394-8010-8AE54FF113EF}"/>
                </a:ext>
              </a:extLst>
            </p:cNvPr>
            <p:cNvSpPr/>
            <p:nvPr/>
          </p:nvSpPr>
          <p:spPr>
            <a:xfrm>
              <a:off x="4370575" y="2416240"/>
              <a:ext cx="5716400" cy="644918"/>
            </a:xfrm>
            <a:custGeom>
              <a:avLst/>
              <a:gdLst>
                <a:gd name="connsiteX0" fmla="*/ 107488 w 644918"/>
                <a:gd name="connsiteY0" fmla="*/ 0 h 7433472"/>
                <a:gd name="connsiteX1" fmla="*/ 537430 w 644918"/>
                <a:gd name="connsiteY1" fmla="*/ 0 h 7433472"/>
                <a:gd name="connsiteX2" fmla="*/ 644918 w 644918"/>
                <a:gd name="connsiteY2" fmla="*/ 107488 h 7433472"/>
                <a:gd name="connsiteX3" fmla="*/ 644918 w 644918"/>
                <a:gd name="connsiteY3" fmla="*/ 7433472 h 7433472"/>
                <a:gd name="connsiteX4" fmla="*/ 644918 w 644918"/>
                <a:gd name="connsiteY4" fmla="*/ 7433472 h 7433472"/>
                <a:gd name="connsiteX5" fmla="*/ 0 w 644918"/>
                <a:gd name="connsiteY5" fmla="*/ 7433472 h 7433472"/>
                <a:gd name="connsiteX6" fmla="*/ 0 w 644918"/>
                <a:gd name="connsiteY6" fmla="*/ 7433472 h 7433472"/>
                <a:gd name="connsiteX7" fmla="*/ 0 w 644918"/>
                <a:gd name="connsiteY7" fmla="*/ 107488 h 7433472"/>
                <a:gd name="connsiteX8" fmla="*/ 107488 w 644918"/>
                <a:gd name="connsiteY8" fmla="*/ 0 h 7433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4918" h="7433472">
                  <a:moveTo>
                    <a:pt x="644918" y="1238935"/>
                  </a:moveTo>
                  <a:lnTo>
                    <a:pt x="644918" y="6194537"/>
                  </a:lnTo>
                  <a:cubicBezTo>
                    <a:pt x="644918" y="6878779"/>
                    <a:pt x="640743" y="7433466"/>
                    <a:pt x="635592" y="7433466"/>
                  </a:cubicBezTo>
                  <a:lnTo>
                    <a:pt x="0" y="7433466"/>
                  </a:lnTo>
                  <a:lnTo>
                    <a:pt x="0" y="743346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35592" y="6"/>
                  </a:lnTo>
                  <a:cubicBezTo>
                    <a:pt x="640743" y="6"/>
                    <a:pt x="644918" y="554693"/>
                    <a:pt x="644918" y="1238935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128" tIns="43547" rIns="43547" bIns="43547" numCol="1" spcCol="1270" anchor="ctr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/>
                <a:t>Desarrollos de las piezas de integración que actualmente están siendo desarrolladas (ETL/APIS)</a:t>
              </a:r>
              <a:endParaRPr lang="es-CL" sz="1600" kern="1200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E075C938-C248-5FC3-15D5-DF1A621BC3DD}"/>
                </a:ext>
              </a:extLst>
            </p:cNvPr>
            <p:cNvSpPr/>
            <p:nvPr/>
          </p:nvSpPr>
          <p:spPr>
            <a:xfrm>
              <a:off x="3676048" y="3201001"/>
              <a:ext cx="694528" cy="992183"/>
            </a:xfrm>
            <a:custGeom>
              <a:avLst/>
              <a:gdLst>
                <a:gd name="connsiteX0" fmla="*/ 0 w 992182"/>
                <a:gd name="connsiteY0" fmla="*/ 0 h 694527"/>
                <a:gd name="connsiteX1" fmla="*/ 644919 w 992182"/>
                <a:gd name="connsiteY1" fmla="*/ 0 h 694527"/>
                <a:gd name="connsiteX2" fmla="*/ 992182 w 992182"/>
                <a:gd name="connsiteY2" fmla="*/ 347264 h 694527"/>
                <a:gd name="connsiteX3" fmla="*/ 644919 w 992182"/>
                <a:gd name="connsiteY3" fmla="*/ 694527 h 694527"/>
                <a:gd name="connsiteX4" fmla="*/ 0 w 992182"/>
                <a:gd name="connsiteY4" fmla="*/ 694527 h 694527"/>
                <a:gd name="connsiteX5" fmla="*/ 347264 w 992182"/>
                <a:gd name="connsiteY5" fmla="*/ 347264 h 694527"/>
                <a:gd name="connsiteX6" fmla="*/ 0 w 992182"/>
                <a:gd name="connsiteY6" fmla="*/ 0 h 69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2182" h="694527">
                  <a:moveTo>
                    <a:pt x="992181" y="0"/>
                  </a:moveTo>
                  <a:lnTo>
                    <a:pt x="992181" y="451443"/>
                  </a:lnTo>
                  <a:lnTo>
                    <a:pt x="496090" y="694527"/>
                  </a:lnTo>
                  <a:lnTo>
                    <a:pt x="1" y="451443"/>
                  </a:lnTo>
                  <a:lnTo>
                    <a:pt x="1" y="0"/>
                  </a:lnTo>
                  <a:lnTo>
                    <a:pt x="496090" y="243085"/>
                  </a:lnTo>
                  <a:lnTo>
                    <a:pt x="992181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56" tIns="355520" rIns="8255" bIns="355518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300" kern="1200" dirty="0"/>
                <a:t>Nuevos</a:t>
              </a:r>
              <a:endParaRPr lang="es-CL" sz="1300" kern="1200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C7DCF8DF-5AC4-1AA0-F7E8-8894C1AFF79E}"/>
                </a:ext>
              </a:extLst>
            </p:cNvPr>
            <p:cNvSpPr/>
            <p:nvPr/>
          </p:nvSpPr>
          <p:spPr>
            <a:xfrm>
              <a:off x="4370575" y="3201003"/>
              <a:ext cx="5716400" cy="644918"/>
            </a:xfrm>
            <a:custGeom>
              <a:avLst/>
              <a:gdLst>
                <a:gd name="connsiteX0" fmla="*/ 107488 w 644918"/>
                <a:gd name="connsiteY0" fmla="*/ 0 h 7433472"/>
                <a:gd name="connsiteX1" fmla="*/ 537430 w 644918"/>
                <a:gd name="connsiteY1" fmla="*/ 0 h 7433472"/>
                <a:gd name="connsiteX2" fmla="*/ 644918 w 644918"/>
                <a:gd name="connsiteY2" fmla="*/ 107488 h 7433472"/>
                <a:gd name="connsiteX3" fmla="*/ 644918 w 644918"/>
                <a:gd name="connsiteY3" fmla="*/ 7433472 h 7433472"/>
                <a:gd name="connsiteX4" fmla="*/ 644918 w 644918"/>
                <a:gd name="connsiteY4" fmla="*/ 7433472 h 7433472"/>
                <a:gd name="connsiteX5" fmla="*/ 0 w 644918"/>
                <a:gd name="connsiteY5" fmla="*/ 7433472 h 7433472"/>
                <a:gd name="connsiteX6" fmla="*/ 0 w 644918"/>
                <a:gd name="connsiteY6" fmla="*/ 7433472 h 7433472"/>
                <a:gd name="connsiteX7" fmla="*/ 0 w 644918"/>
                <a:gd name="connsiteY7" fmla="*/ 107488 h 7433472"/>
                <a:gd name="connsiteX8" fmla="*/ 107488 w 644918"/>
                <a:gd name="connsiteY8" fmla="*/ 0 h 7433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4918" h="7433472">
                  <a:moveTo>
                    <a:pt x="644918" y="1238935"/>
                  </a:moveTo>
                  <a:lnTo>
                    <a:pt x="644918" y="6194537"/>
                  </a:lnTo>
                  <a:cubicBezTo>
                    <a:pt x="644918" y="6878779"/>
                    <a:pt x="640743" y="7433466"/>
                    <a:pt x="635592" y="7433466"/>
                  </a:cubicBezTo>
                  <a:lnTo>
                    <a:pt x="0" y="7433466"/>
                  </a:lnTo>
                  <a:lnTo>
                    <a:pt x="0" y="743346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35592" y="6"/>
                  </a:lnTo>
                  <a:cubicBezTo>
                    <a:pt x="640743" y="6"/>
                    <a:pt x="644918" y="554693"/>
                    <a:pt x="644918" y="123893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90000"/>
              </a:schemeClr>
            </a:solid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128" tIns="43547" rIns="43547" bIns="43547" numCol="1" spcCol="1270" anchor="ctr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1600" kern="1200" dirty="0"/>
                <a:t>Proyecto y desarrollos nuevos, los cuales nacerán en su implementación con la nueva arquitectura de implementación</a:t>
              </a:r>
              <a:endParaRPr lang="es-CL" sz="1600" kern="1200" dirty="0"/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55448F3-1118-FFBF-BD18-4FEF293BFD43}"/>
              </a:ext>
            </a:extLst>
          </p:cNvPr>
          <p:cNvSpPr/>
          <p:nvPr/>
        </p:nvSpPr>
        <p:spPr>
          <a:xfrm>
            <a:off x="667078" y="712428"/>
            <a:ext cx="4362122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1" dirty="0">
                <a:solidFill>
                  <a:srgbClr val="002060"/>
                </a:solidFill>
              </a:rPr>
              <a:t>Lineamiento tipo de integración</a:t>
            </a:r>
          </a:p>
          <a:p>
            <a:pPr algn="ctr"/>
            <a:r>
              <a:rPr lang="es-ES" sz="1000" b="1" dirty="0">
                <a:solidFill>
                  <a:srgbClr val="002060"/>
                </a:solidFill>
              </a:rPr>
              <a:t>(Se establece que esto aplica para proyecto o iniciativas que están partiendo)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30113A6-DB7C-9206-CFB3-EC93DC8CAB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43866" y="4198450"/>
            <a:ext cx="593496" cy="60322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B6F20EC-9FBF-9800-89BB-1B6A1D9D1D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5237" y="4515393"/>
            <a:ext cx="571726" cy="49004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043B5A8-41BF-9694-DD14-23E41CCDE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3866" y="5030873"/>
            <a:ext cx="620218" cy="60322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2584B3D-5774-EAC4-F1C0-D64B1D800878}"/>
              </a:ext>
            </a:extLst>
          </p:cNvPr>
          <p:cNvSpPr txBox="1"/>
          <p:nvPr/>
        </p:nvSpPr>
        <p:spPr>
          <a:xfrm>
            <a:off x="953605" y="4933743"/>
            <a:ext cx="897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Recursos (SP)</a:t>
            </a:r>
            <a:endParaRPr lang="es-CL" sz="1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4647A6A-9F08-1BC7-4833-4F3B4B0B69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6690" y="4515393"/>
            <a:ext cx="410662" cy="49851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6B3EF8DC-058E-8A2A-D4D9-54F809DD3406}"/>
              </a:ext>
            </a:extLst>
          </p:cNvPr>
          <p:cNvSpPr txBox="1"/>
          <p:nvPr/>
        </p:nvSpPr>
        <p:spPr>
          <a:xfrm>
            <a:off x="1752352" y="5047663"/>
            <a:ext cx="1276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Evaluación del tipo de implementación</a:t>
            </a:r>
            <a:endParaRPr lang="es-CL" sz="120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E66BEB5-F37D-DC8B-7163-25B67B3B8E10}"/>
              </a:ext>
            </a:extLst>
          </p:cNvPr>
          <p:cNvCxnSpPr>
            <a:cxnSpLocks/>
          </p:cNvCxnSpPr>
          <p:nvPr/>
        </p:nvCxnSpPr>
        <p:spPr>
          <a:xfrm>
            <a:off x="1620353" y="4760418"/>
            <a:ext cx="416141" cy="4233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CDDE6437-A86C-8A31-EED7-8BBB4B59C20A}"/>
              </a:ext>
            </a:extLst>
          </p:cNvPr>
          <p:cNvCxnSpPr>
            <a:cxnSpLocks/>
          </p:cNvCxnSpPr>
          <p:nvPr/>
        </p:nvCxnSpPr>
        <p:spPr>
          <a:xfrm flipV="1">
            <a:off x="2467352" y="4500063"/>
            <a:ext cx="1276514" cy="264588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D206E233-FF77-FB4E-FEBE-068B51AF12FA}"/>
              </a:ext>
            </a:extLst>
          </p:cNvPr>
          <p:cNvCxnSpPr>
            <a:cxnSpLocks/>
          </p:cNvCxnSpPr>
          <p:nvPr/>
        </p:nvCxnSpPr>
        <p:spPr>
          <a:xfrm>
            <a:off x="2467352" y="4764651"/>
            <a:ext cx="1276514" cy="660301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BA8432B2-5C0B-9421-1FFA-68FDA2FC347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48462" y="4116178"/>
            <a:ext cx="645706" cy="51617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835DBCA-CBFE-DD7F-5F44-3F18994F98D0}"/>
              </a:ext>
            </a:extLst>
          </p:cNvPr>
          <p:cNvSpPr txBox="1"/>
          <p:nvPr/>
        </p:nvSpPr>
        <p:spPr>
          <a:xfrm>
            <a:off x="5144992" y="4585998"/>
            <a:ext cx="1111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Despliegue API´S en APIM </a:t>
            </a:r>
            <a:endParaRPr lang="es-CL" sz="1200" dirty="0"/>
          </a:p>
        </p:txBody>
      </p: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1292B19C-1B04-276D-D042-A00D8D09BA9E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 flipV="1">
            <a:off x="4337362" y="4374268"/>
            <a:ext cx="1111100" cy="125795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0804911-9DAF-59EC-C6C0-1429A0912C60}"/>
              </a:ext>
            </a:extLst>
          </p:cNvPr>
          <p:cNvSpPr txBox="1"/>
          <p:nvPr/>
        </p:nvSpPr>
        <p:spPr>
          <a:xfrm>
            <a:off x="986115" y="4021829"/>
            <a:ext cx="1565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API Fabrica</a:t>
            </a:r>
            <a:endParaRPr lang="es-CL" sz="12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03EBBAA2-8D43-FC96-CB8B-36B528BA1D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56906" y="3503952"/>
            <a:ext cx="593496" cy="603225"/>
          </a:xfrm>
          <a:prstGeom prst="rect">
            <a:avLst/>
          </a:prstGeom>
        </p:spPr>
      </p:pic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5AC5F3C0-3B28-79BC-F5BF-BB88407EB2A7}"/>
              </a:ext>
            </a:extLst>
          </p:cNvPr>
          <p:cNvCxnSpPr>
            <a:cxnSpLocks/>
            <a:stCxn id="29" idx="3"/>
            <a:endCxn id="25" idx="0"/>
          </p:cNvCxnSpPr>
          <p:nvPr/>
        </p:nvCxnSpPr>
        <p:spPr>
          <a:xfrm>
            <a:off x="2050402" y="3805565"/>
            <a:ext cx="3720913" cy="310613"/>
          </a:xfrm>
          <a:prstGeom prst="bentConnector2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D4F34F94-3183-28FA-E16C-1AC5C24658B5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29574" y="3651532"/>
            <a:ext cx="1027332" cy="154033"/>
          </a:xfrm>
          <a:prstGeom prst="bentConnector3">
            <a:avLst>
              <a:gd name="adj1" fmla="val 2406"/>
            </a:avLst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0D8C7495-2B99-3792-BC1B-25C23C3046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8492" y="3968836"/>
            <a:ext cx="990919" cy="592243"/>
          </a:xfrm>
          <a:prstGeom prst="bentConnector2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8" name="Imagen 37">
            <a:extLst>
              <a:ext uri="{FF2B5EF4-FFF2-40B4-BE49-F238E27FC236}">
                <a16:creationId xmlns:a16="http://schemas.microsoft.com/office/drawing/2014/main" id="{741577EA-33A7-DB8E-8D43-751E846CDA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977" y="3305791"/>
            <a:ext cx="5948216" cy="3334667"/>
          </a:xfrm>
          <a:prstGeom prst="rect">
            <a:avLst/>
          </a:prstGeom>
        </p:spPr>
      </p:pic>
      <p:sp>
        <p:nvSpPr>
          <p:cNvPr id="39" name="Rectángulo 38">
            <a:extLst>
              <a:ext uri="{FF2B5EF4-FFF2-40B4-BE49-F238E27FC236}">
                <a16:creationId xmlns:a16="http://schemas.microsoft.com/office/drawing/2014/main" id="{A439FC68-E96C-5E95-4A9C-620927FA461B}"/>
              </a:ext>
            </a:extLst>
          </p:cNvPr>
          <p:cNvSpPr/>
          <p:nvPr/>
        </p:nvSpPr>
        <p:spPr>
          <a:xfrm>
            <a:off x="7178557" y="2844240"/>
            <a:ext cx="363254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1" dirty="0">
                <a:solidFill>
                  <a:srgbClr val="002060"/>
                </a:solidFill>
              </a:rPr>
              <a:t>Lineamiento desarrollo de </a:t>
            </a:r>
            <a:r>
              <a:rPr lang="es-ES" sz="2000" b="1" dirty="0" err="1">
                <a:solidFill>
                  <a:srgbClr val="002060"/>
                </a:solidFill>
              </a:rPr>
              <a:t>API’s</a:t>
            </a:r>
            <a:endParaRPr lang="es-ES" sz="2000" b="1" dirty="0">
              <a:solidFill>
                <a:srgbClr val="002060"/>
              </a:solidFill>
            </a:endParaRPr>
          </a:p>
        </p:txBody>
      </p:sp>
      <p:pic>
        <p:nvPicPr>
          <p:cNvPr id="40" name="Imagen" descr="Imagen">
            <a:extLst>
              <a:ext uri="{FF2B5EF4-FFF2-40B4-BE49-F238E27FC236}">
                <a16:creationId xmlns:a16="http://schemas.microsoft.com/office/drawing/2014/main" id="{34032715-5A2E-D76E-3FA4-2EE3B2004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71681" y="175334"/>
            <a:ext cx="430274" cy="56864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0312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2CC3AEB-31D2-594E-8737-12C52D7E644F}"/>
              </a:ext>
            </a:extLst>
          </p:cNvPr>
          <p:cNvSpPr/>
          <p:nvPr/>
        </p:nvSpPr>
        <p:spPr>
          <a:xfrm>
            <a:off x="5695962" y="2690214"/>
            <a:ext cx="2295525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- Presentación</a:t>
            </a:r>
            <a:endParaRPr lang="es-CL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440BA7D-1AD9-8AEF-DD9A-1DA68EE84113}"/>
              </a:ext>
            </a:extLst>
          </p:cNvPr>
          <p:cNvSpPr/>
          <p:nvPr/>
        </p:nvSpPr>
        <p:spPr>
          <a:xfrm>
            <a:off x="5706886" y="5402297"/>
            <a:ext cx="2295525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- </a:t>
            </a:r>
            <a:r>
              <a:rPr lang="es-ES" dirty="0" err="1"/>
              <a:t>Repository</a:t>
            </a:r>
            <a:endParaRPr lang="es-CL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F324B2E-7A16-5EB0-51C1-CBC9DDD63C9D}"/>
              </a:ext>
            </a:extLst>
          </p:cNvPr>
          <p:cNvSpPr/>
          <p:nvPr/>
        </p:nvSpPr>
        <p:spPr>
          <a:xfrm>
            <a:off x="5706889" y="3106533"/>
            <a:ext cx="2295525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- Aplicación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681D15B-38AC-D225-97B5-A9D690283B96}"/>
              </a:ext>
            </a:extLst>
          </p:cNvPr>
          <p:cNvSpPr/>
          <p:nvPr/>
        </p:nvSpPr>
        <p:spPr>
          <a:xfrm>
            <a:off x="5695962" y="3489944"/>
            <a:ext cx="2295525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- Autenticación</a:t>
            </a:r>
            <a:endParaRPr lang="es-CL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183E6F8-AB52-EF9D-5FB5-EBD2A1E7662B}"/>
              </a:ext>
            </a:extLst>
          </p:cNvPr>
          <p:cNvSpPr/>
          <p:nvPr/>
        </p:nvSpPr>
        <p:spPr>
          <a:xfrm>
            <a:off x="5706889" y="3944862"/>
            <a:ext cx="2295525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- </a:t>
            </a:r>
            <a:r>
              <a:rPr lang="es-ES" dirty="0" err="1"/>
              <a:t>Utiles</a:t>
            </a:r>
            <a:endParaRPr lang="es-CL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58E77D4-FC19-7444-DECC-907A1411B59B}"/>
              </a:ext>
            </a:extLst>
          </p:cNvPr>
          <p:cNvSpPr/>
          <p:nvPr/>
        </p:nvSpPr>
        <p:spPr>
          <a:xfrm>
            <a:off x="5717772" y="4417526"/>
            <a:ext cx="2295525" cy="307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- Servicios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D98C78-5C71-B8E9-DCC4-FCD0A17FBB72}"/>
              </a:ext>
            </a:extLst>
          </p:cNvPr>
          <p:cNvSpPr txBox="1"/>
          <p:nvPr/>
        </p:nvSpPr>
        <p:spPr>
          <a:xfrm>
            <a:off x="652132" y="889870"/>
            <a:ext cx="41701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Funcionamiento sobre protocolo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Separación cliente Servido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API </a:t>
            </a:r>
            <a:r>
              <a:rPr lang="es-ES" sz="1200" dirty="0" err="1"/>
              <a:t>Rest</a:t>
            </a:r>
            <a:r>
              <a:rPr lang="es-ES" sz="1200" dirty="0"/>
              <a:t> – Diseño en </a:t>
            </a:r>
            <a:r>
              <a:rPr lang="es-ES" sz="1200" dirty="0" err="1"/>
              <a:t>Json</a:t>
            </a:r>
            <a:r>
              <a:rPr lang="es-E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Orientada a entidad de negocio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Proveedor de Identidad Azure 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Net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Framework .NET 8 o superior  (Lenguaje C#)</a:t>
            </a:r>
            <a:endParaRPr lang="es-CL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8935BD0-F73E-4E77-8D49-AA09D5811E57}"/>
              </a:ext>
            </a:extLst>
          </p:cNvPr>
          <p:cNvSpPr txBox="1"/>
          <p:nvPr/>
        </p:nvSpPr>
        <p:spPr>
          <a:xfrm>
            <a:off x="7991487" y="2682534"/>
            <a:ext cx="282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Controlador de API (</a:t>
            </a:r>
            <a:r>
              <a:rPr lang="es-ES" sz="1400" dirty="0" err="1"/>
              <a:t>EndPoint</a:t>
            </a:r>
            <a:r>
              <a:rPr lang="es-ES" sz="1400" dirty="0"/>
              <a:t>)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AA8EB58-7602-051B-8B3F-9BFD2532CB4E}"/>
              </a:ext>
            </a:extLst>
          </p:cNvPr>
          <p:cNvSpPr txBox="1"/>
          <p:nvPr/>
        </p:nvSpPr>
        <p:spPr>
          <a:xfrm>
            <a:off x="8002413" y="3044096"/>
            <a:ext cx="3592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Gestión de respuesta (recibe solicitud http)</a:t>
            </a:r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1223B2-5F95-812F-5410-2086230BD2A3}"/>
              </a:ext>
            </a:extLst>
          </p:cNvPr>
          <p:cNvSpPr txBox="1"/>
          <p:nvPr/>
        </p:nvSpPr>
        <p:spPr>
          <a:xfrm>
            <a:off x="8008988" y="3411827"/>
            <a:ext cx="3554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Token + Key Vault vía Azure Arc (sin secretos locales</a:t>
            </a:r>
            <a:endParaRPr lang="es-CL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B43E033-F867-5417-0CA1-7DFD06797F95}"/>
              </a:ext>
            </a:extLst>
          </p:cNvPr>
          <p:cNvSpPr txBox="1"/>
          <p:nvPr/>
        </p:nvSpPr>
        <p:spPr>
          <a:xfrm>
            <a:off x="8002413" y="3895353"/>
            <a:ext cx="3543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Realización de transformación de variables y validaciones de campos </a:t>
            </a:r>
            <a:endParaRPr lang="es-CL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6C6383B-80EF-5E3D-19A0-5260F9FB3216}"/>
              </a:ext>
            </a:extLst>
          </p:cNvPr>
          <p:cNvSpPr txBox="1"/>
          <p:nvPr/>
        </p:nvSpPr>
        <p:spPr>
          <a:xfrm>
            <a:off x="8002412" y="4409444"/>
            <a:ext cx="2989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Lógica de negocio (reglas o lógica en base a la funcionalidad)</a:t>
            </a:r>
            <a:endParaRPr lang="es-CL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BBD7E7A-8BEC-A2B3-EDF0-479BF6E0A7B2}"/>
              </a:ext>
            </a:extLst>
          </p:cNvPr>
          <p:cNvSpPr txBox="1"/>
          <p:nvPr/>
        </p:nvSpPr>
        <p:spPr>
          <a:xfrm>
            <a:off x="8013297" y="4937099"/>
            <a:ext cx="2821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Manejo control de auditoria y/o control de errores </a:t>
            </a:r>
            <a:endParaRPr lang="es-CL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614F114-F8D4-530B-F331-5A438622FAAC}"/>
              </a:ext>
            </a:extLst>
          </p:cNvPr>
          <p:cNvSpPr/>
          <p:nvPr/>
        </p:nvSpPr>
        <p:spPr>
          <a:xfrm>
            <a:off x="5467350" y="2429910"/>
            <a:ext cx="6097494" cy="3932664"/>
          </a:xfrm>
          <a:prstGeom prst="roundRect">
            <a:avLst>
              <a:gd name="adj" fmla="val 13868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8D84F5D-993A-4C59-5563-8B185F6FDC1A}"/>
              </a:ext>
            </a:extLst>
          </p:cNvPr>
          <p:cNvSpPr/>
          <p:nvPr/>
        </p:nvSpPr>
        <p:spPr>
          <a:xfrm>
            <a:off x="504448" y="2497578"/>
            <a:ext cx="4400550" cy="1514988"/>
          </a:xfrm>
          <a:prstGeom prst="roundRect">
            <a:avLst>
              <a:gd name="adj" fmla="val 13868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B944090-C96A-769D-92C4-2152E88A6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75" y="2360530"/>
            <a:ext cx="1873346" cy="234962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238BC5A-4DDC-7CA8-3049-9CAD3F579E6D}"/>
              </a:ext>
            </a:extLst>
          </p:cNvPr>
          <p:cNvSpPr txBox="1"/>
          <p:nvPr/>
        </p:nvSpPr>
        <p:spPr>
          <a:xfrm>
            <a:off x="628690" y="2555644"/>
            <a:ext cx="3849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dirty="0"/>
              <a:t>Versiona miento de API (indicar la versión)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V1</a:t>
            </a:r>
            <a:endParaRPr lang="es-C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dirty="0"/>
              <a:t>Uso de sustantivos (en base a entidades)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API/ALUMNOS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dirty="0" err="1"/>
              <a:t>Sub-recursos</a:t>
            </a:r>
            <a:r>
              <a:rPr lang="es-ES" sz="1200" b="1" dirty="0"/>
              <a:t> (para relaciones)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API/ALUMNOS/Matriculados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786E25F-D52B-D374-A46F-A39937CFF212}"/>
              </a:ext>
            </a:extLst>
          </p:cNvPr>
          <p:cNvSpPr/>
          <p:nvPr/>
        </p:nvSpPr>
        <p:spPr>
          <a:xfrm>
            <a:off x="507674" y="4234056"/>
            <a:ext cx="4400550" cy="1036551"/>
          </a:xfrm>
          <a:prstGeom prst="roundRect">
            <a:avLst>
              <a:gd name="adj" fmla="val 13868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F1411C9-6364-7E36-D2AD-E592BB7D8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4" y="4097876"/>
            <a:ext cx="1543129" cy="25401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9B93BA93-77DE-3B01-5EB4-0DA15FF5BA09}"/>
              </a:ext>
            </a:extLst>
          </p:cNvPr>
          <p:cNvSpPr txBox="1"/>
          <p:nvPr/>
        </p:nvSpPr>
        <p:spPr>
          <a:xfrm>
            <a:off x="583804" y="4300456"/>
            <a:ext cx="3849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</a:rPr>
              <a:t>C</a:t>
            </a:r>
            <a:r>
              <a:rPr lang="es-ES" sz="1400" dirty="0" err="1"/>
              <a:t>reate</a:t>
            </a:r>
            <a:r>
              <a:rPr lang="es-ES" sz="1400" dirty="0"/>
              <a:t>   </a:t>
            </a:r>
            <a:r>
              <a:rPr lang="es-ES" sz="1400" dirty="0">
                <a:sym typeface="Wingdings" panose="05000000000000000000" pitchFamily="2" charset="2"/>
              </a:rPr>
              <a:t> Método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R</a:t>
            </a:r>
            <a:r>
              <a:rPr lang="es-ES" sz="1400" dirty="0" err="1">
                <a:sym typeface="Wingdings" panose="05000000000000000000" pitchFamily="2" charset="2"/>
              </a:rPr>
              <a:t>ead</a:t>
            </a:r>
            <a:r>
              <a:rPr lang="es-ES" sz="1400" dirty="0">
                <a:sym typeface="Wingdings" panose="05000000000000000000" pitchFamily="2" charset="2"/>
              </a:rPr>
              <a:t>       Método lectura </a:t>
            </a:r>
            <a:r>
              <a:rPr lang="es-ES" sz="1400" dirty="0" err="1">
                <a:sym typeface="Wingdings" panose="05000000000000000000" pitchFamily="2" charset="2"/>
              </a:rPr>
              <a:t>Get</a:t>
            </a:r>
            <a:endParaRPr lang="es-ES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U</a:t>
            </a:r>
            <a:r>
              <a:rPr lang="es-ES" sz="1400" dirty="0" err="1">
                <a:sym typeface="Wingdings" panose="05000000000000000000" pitchFamily="2" charset="2"/>
              </a:rPr>
              <a:t>pdate</a:t>
            </a:r>
            <a:r>
              <a:rPr lang="es-ES" sz="1400" dirty="0">
                <a:sym typeface="Wingdings" panose="05000000000000000000" pitchFamily="2" charset="2"/>
              </a:rPr>
              <a:t>   Método actualización 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D</a:t>
            </a:r>
            <a:r>
              <a:rPr lang="es-ES" sz="1400" dirty="0" err="1">
                <a:sym typeface="Wingdings" panose="05000000000000000000" pitchFamily="2" charset="2"/>
              </a:rPr>
              <a:t>elete</a:t>
            </a:r>
            <a:r>
              <a:rPr lang="es-ES" sz="1400" dirty="0">
                <a:sym typeface="Wingdings" panose="05000000000000000000" pitchFamily="2" charset="2"/>
              </a:rPr>
              <a:t>    Método eliminación DELETE</a:t>
            </a:r>
            <a:endParaRPr lang="es-CL" sz="1400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59A6C67-BE40-1325-3407-1D7F33122B70}"/>
              </a:ext>
            </a:extLst>
          </p:cNvPr>
          <p:cNvSpPr/>
          <p:nvPr/>
        </p:nvSpPr>
        <p:spPr>
          <a:xfrm>
            <a:off x="503383" y="5458309"/>
            <a:ext cx="4400550" cy="1247291"/>
          </a:xfrm>
          <a:prstGeom prst="roundRect">
            <a:avLst>
              <a:gd name="adj" fmla="val 13868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9437BAF-D2C0-7389-5B77-1931A3626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981153" y="3075784"/>
            <a:ext cx="933498" cy="22861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1AC23D7-7D1E-8669-7269-59BC25F32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417077" y="4800175"/>
            <a:ext cx="2114659" cy="368319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38A1934-E7F1-2744-FC67-FD7FE1F4B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35" y="5345526"/>
            <a:ext cx="2311519" cy="241312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37568B0D-411D-D250-EDBB-79E67DF788F2}"/>
              </a:ext>
            </a:extLst>
          </p:cNvPr>
          <p:cNvSpPr txBox="1"/>
          <p:nvPr/>
        </p:nvSpPr>
        <p:spPr>
          <a:xfrm>
            <a:off x="598926" y="5586838"/>
            <a:ext cx="43291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Json</a:t>
            </a:r>
            <a:r>
              <a:rPr lang="es-ES" sz="1400" dirty="0"/>
              <a:t> Web Token </a:t>
            </a:r>
            <a:r>
              <a:rPr lang="es-ES" sz="1400" dirty="0">
                <a:sym typeface="Wingdings" panose="05000000000000000000" pitchFamily="2" charset="2"/>
              </a:rPr>
              <a:t> Proveedor de identidad Azure 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/>
              <a:t>Clave de API (x-</a:t>
            </a:r>
            <a:r>
              <a:rPr lang="es-CL" sz="1400" dirty="0" err="1"/>
              <a:t>xmsbs</a:t>
            </a:r>
            <a:r>
              <a:rPr lang="es-CL" sz="1400" dirty="0"/>
              <a:t>-</a:t>
            </a:r>
            <a:r>
              <a:rPr lang="es-CL" sz="1400" dirty="0" err="1"/>
              <a:t>apikey</a:t>
            </a:r>
            <a:r>
              <a:rPr lang="es-CL" sz="1400" dirty="0"/>
              <a:t>)   →   Azure Key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Cadenas de conexión de BD   →   Azure Key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Sin secretos en el servidor   →   Identidad Administrada vía Azure Arc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400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387D8941-DB25-B137-A12A-0A9169335E70}"/>
              </a:ext>
            </a:extLst>
          </p:cNvPr>
          <p:cNvSpPr/>
          <p:nvPr/>
        </p:nvSpPr>
        <p:spPr>
          <a:xfrm>
            <a:off x="5467350" y="923863"/>
            <a:ext cx="5981700" cy="1248484"/>
          </a:xfrm>
          <a:prstGeom prst="roundRect">
            <a:avLst>
              <a:gd name="adj" fmla="val 13868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BB4B3E3F-DEDB-2980-9636-B9770CCE25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90" y="789242"/>
            <a:ext cx="2165461" cy="215911"/>
          </a:xfrm>
          <a:prstGeom prst="rect">
            <a:avLst/>
          </a:prstGeom>
        </p:spPr>
      </p:pic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D30EDB3-C286-0CED-936E-BC6E0BD86E76}"/>
              </a:ext>
            </a:extLst>
          </p:cNvPr>
          <p:cNvSpPr/>
          <p:nvPr/>
        </p:nvSpPr>
        <p:spPr>
          <a:xfrm>
            <a:off x="5706886" y="4923249"/>
            <a:ext cx="2295525" cy="3226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- logs</a:t>
            </a:r>
            <a:endParaRPr lang="es-CL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E35EDDD7-9687-8FB3-AE27-1E64D29124D7}"/>
              </a:ext>
            </a:extLst>
          </p:cNvPr>
          <p:cNvSpPr/>
          <p:nvPr/>
        </p:nvSpPr>
        <p:spPr>
          <a:xfrm>
            <a:off x="5695962" y="5886152"/>
            <a:ext cx="2295525" cy="297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Capa – </a:t>
            </a:r>
            <a:r>
              <a:rPr lang="es-CL" b="0" i="0" dirty="0" err="1">
                <a:solidFill>
                  <a:srgbClr val="E8EAED"/>
                </a:solidFill>
                <a:effectLst/>
                <a:latin typeface="Google Sans"/>
              </a:rPr>
              <a:t>unit</a:t>
            </a:r>
            <a:r>
              <a:rPr lang="es-CL" dirty="0" err="1">
                <a:solidFill>
                  <a:srgbClr val="E8EAED"/>
                </a:solidFill>
                <a:latin typeface="Google Sans"/>
              </a:rPr>
              <a:t>_</a:t>
            </a:r>
            <a:r>
              <a:rPr lang="es-CL" b="0" i="0" dirty="0" err="1">
                <a:solidFill>
                  <a:srgbClr val="E8EAED"/>
                </a:solidFill>
                <a:effectLst/>
                <a:latin typeface="Google Sans"/>
              </a:rPr>
              <a:t>test</a:t>
            </a:r>
            <a:endParaRPr lang="es-CL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17BD425-553B-4F25-8518-F953B4D75357}"/>
              </a:ext>
            </a:extLst>
          </p:cNvPr>
          <p:cNvSpPr txBox="1"/>
          <p:nvPr/>
        </p:nvSpPr>
        <p:spPr>
          <a:xfrm>
            <a:off x="8013296" y="5442318"/>
            <a:ext cx="282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Manejo acceso a los datos</a:t>
            </a:r>
            <a:endParaRPr lang="es-CL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FBF31A5-919D-58D0-7538-374B51D6687C}"/>
              </a:ext>
            </a:extLst>
          </p:cNvPr>
          <p:cNvSpPr txBox="1"/>
          <p:nvPr/>
        </p:nvSpPr>
        <p:spPr>
          <a:xfrm>
            <a:off x="8013296" y="5849657"/>
            <a:ext cx="282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Pruebas unitarias (Validaciones) </a:t>
            </a:r>
            <a:endParaRPr lang="es-CL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17E7139-2DD5-ADE2-213F-2375EADE6BAC}"/>
              </a:ext>
            </a:extLst>
          </p:cNvPr>
          <p:cNvSpPr txBox="1"/>
          <p:nvPr/>
        </p:nvSpPr>
        <p:spPr>
          <a:xfrm>
            <a:off x="752188" y="3727609"/>
            <a:ext cx="3616294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CL" sz="1000" b="1" i="0" dirty="0">
                <a:solidFill>
                  <a:srgbClr val="272626"/>
                </a:solidFill>
                <a:effectLst/>
                <a:latin typeface="Arial" panose="020B0604020202020204" pitchFamily="34" charset="0"/>
              </a:rPr>
              <a:t> https://host:puerto/api/</a:t>
            </a:r>
            <a:r>
              <a:rPr lang="es-CL" sz="1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v1</a:t>
            </a:r>
            <a:r>
              <a:rPr lang="es-CL" sz="1000" b="1" i="0" dirty="0">
                <a:solidFill>
                  <a:srgbClr val="272626"/>
                </a:solidFill>
                <a:effectLst/>
                <a:latin typeface="Arial" panose="020B0604020202020204" pitchFamily="34" charset="0"/>
              </a:rPr>
              <a:t>/&lt;sustantivo&gt;/&lt;subrecurso&gt;</a:t>
            </a:r>
            <a:endParaRPr lang="es-CL" sz="1000" b="1" dirty="0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F4810176-C079-3F77-B841-6610EA49DF40}"/>
              </a:ext>
            </a:extLst>
          </p:cNvPr>
          <p:cNvSpPr/>
          <p:nvPr/>
        </p:nvSpPr>
        <p:spPr>
          <a:xfrm>
            <a:off x="498146" y="777656"/>
            <a:ext cx="4400550" cy="1514988"/>
          </a:xfrm>
          <a:prstGeom prst="roundRect">
            <a:avLst>
              <a:gd name="adj" fmla="val 13868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0A67AA14-0AF4-4866-A473-355E8D28B4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386" y="660733"/>
            <a:ext cx="1390721" cy="228612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522738DF-6C80-EAFF-2A70-34D11BA5D651}"/>
              </a:ext>
            </a:extLst>
          </p:cNvPr>
          <p:cNvSpPr txBox="1"/>
          <p:nvPr/>
        </p:nvSpPr>
        <p:spPr>
          <a:xfrm>
            <a:off x="9236649" y="1014361"/>
            <a:ext cx="500401" cy="2518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CL" sz="1200" b="1" i="0" dirty="0">
                <a:solidFill>
                  <a:srgbClr val="27262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s-CL" sz="1200" b="1" dirty="0">
                <a:solidFill>
                  <a:srgbClr val="272626"/>
                </a:solidFill>
                <a:latin typeface="Arial" panose="020B0604020202020204" pitchFamily="34" charset="0"/>
              </a:rPr>
              <a:t>200</a:t>
            </a:r>
            <a:endParaRPr lang="es-CL" sz="1200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A768058-D1A8-490D-A6F2-5DD7564417BC}"/>
              </a:ext>
            </a:extLst>
          </p:cNvPr>
          <p:cNvSpPr txBox="1"/>
          <p:nvPr/>
        </p:nvSpPr>
        <p:spPr>
          <a:xfrm>
            <a:off x="5657078" y="1022051"/>
            <a:ext cx="3849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Documentación con </a:t>
            </a:r>
            <a:r>
              <a:rPr lang="es-ES" sz="1200" dirty="0" err="1"/>
              <a:t>Swagger</a:t>
            </a:r>
            <a:endParaRPr lang="es-E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Información general de la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Rutas disponibles (</a:t>
            </a:r>
            <a:r>
              <a:rPr lang="es-ES" sz="1200" dirty="0" err="1"/>
              <a:t>endpoint</a:t>
            </a:r>
            <a:r>
              <a:rPr lang="es-ES" sz="12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Operaciones disponibles (PUT, GET)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Request</a:t>
            </a:r>
            <a:r>
              <a:rPr lang="es-ES" sz="1200" dirty="0"/>
              <a:t> y Response de cada operación</a:t>
            </a:r>
            <a:endParaRPr lang="es-CL" sz="12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D223B0C-CA6A-9042-1053-C2A903312407}"/>
              </a:ext>
            </a:extLst>
          </p:cNvPr>
          <p:cNvSpPr txBox="1"/>
          <p:nvPr/>
        </p:nvSpPr>
        <p:spPr>
          <a:xfrm>
            <a:off x="9236649" y="1341512"/>
            <a:ext cx="500401" cy="2518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CL" sz="1200" b="1" i="0" dirty="0">
                <a:solidFill>
                  <a:srgbClr val="27262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s-CL" sz="1200" b="1" dirty="0">
                <a:solidFill>
                  <a:srgbClr val="272626"/>
                </a:solidFill>
                <a:latin typeface="Arial" panose="020B0604020202020204" pitchFamily="34" charset="0"/>
              </a:rPr>
              <a:t>401</a:t>
            </a:r>
            <a:endParaRPr lang="es-CL" sz="1200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2811C42-DAE6-178D-DA19-788C18E2C174}"/>
              </a:ext>
            </a:extLst>
          </p:cNvPr>
          <p:cNvSpPr txBox="1"/>
          <p:nvPr/>
        </p:nvSpPr>
        <p:spPr>
          <a:xfrm>
            <a:off x="9236649" y="1684716"/>
            <a:ext cx="500401" cy="2769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CL" sz="1200" b="1" i="0" dirty="0">
                <a:solidFill>
                  <a:srgbClr val="272626"/>
                </a:solidFill>
                <a:effectLst/>
                <a:latin typeface="Arial" panose="020B0604020202020204" pitchFamily="34" charset="0"/>
              </a:rPr>
              <a:t> 500</a:t>
            </a:r>
            <a:endParaRPr lang="es-CL" sz="1200" b="1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DB0044E-F000-F048-F408-83C77F171E0E}"/>
              </a:ext>
            </a:extLst>
          </p:cNvPr>
          <p:cNvSpPr txBox="1"/>
          <p:nvPr/>
        </p:nvSpPr>
        <p:spPr>
          <a:xfrm>
            <a:off x="9737050" y="1002160"/>
            <a:ext cx="12736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/>
              <a:t>Respuesta Exitosa</a:t>
            </a:r>
            <a:endParaRPr lang="es-CL" sz="11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D11786E-F65F-51F0-D774-8F2A17902893}"/>
              </a:ext>
            </a:extLst>
          </p:cNvPr>
          <p:cNvSpPr txBox="1"/>
          <p:nvPr/>
        </p:nvSpPr>
        <p:spPr>
          <a:xfrm>
            <a:off x="9737050" y="1336154"/>
            <a:ext cx="1599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/>
              <a:t>Respuesta Autorización</a:t>
            </a:r>
            <a:endParaRPr lang="es-CL" sz="11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1DD9DE7-CF49-9EC1-9B63-A21239A53EA2}"/>
              </a:ext>
            </a:extLst>
          </p:cNvPr>
          <p:cNvSpPr txBox="1"/>
          <p:nvPr/>
        </p:nvSpPr>
        <p:spPr>
          <a:xfrm>
            <a:off x="9737050" y="1688417"/>
            <a:ext cx="1599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/>
              <a:t>Respuesta Error</a:t>
            </a:r>
            <a:endParaRPr lang="es-CL" sz="1100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977FCC-0988-EFC9-2C0D-3294DA7A35BE}"/>
              </a:ext>
            </a:extLst>
          </p:cNvPr>
          <p:cNvSpPr/>
          <p:nvPr/>
        </p:nvSpPr>
        <p:spPr>
          <a:xfrm>
            <a:off x="-392258" y="38236"/>
            <a:ext cx="1184130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1"/>
            <a:r>
              <a:rPr lang="es-PE" sz="3200" dirty="0"/>
              <a:t>Lineamiento de desarrollo de </a:t>
            </a:r>
            <a:r>
              <a:rPr lang="es-PE" sz="3200" dirty="0" err="1"/>
              <a:t>API’s</a:t>
            </a:r>
            <a:endParaRPr lang="es-PE" sz="3200" dirty="0"/>
          </a:p>
        </p:txBody>
      </p:sp>
      <p:cxnSp>
        <p:nvCxnSpPr>
          <p:cNvPr id="46" name="4 Conector recto">
            <a:extLst>
              <a:ext uri="{FF2B5EF4-FFF2-40B4-BE49-F238E27FC236}">
                <a16:creationId xmlns:a16="http://schemas.microsoft.com/office/drawing/2014/main" id="{622AA5CC-E14D-3BC2-A165-7B9DCA17D462}"/>
              </a:ext>
            </a:extLst>
          </p:cNvPr>
          <p:cNvCxnSpPr/>
          <p:nvPr/>
        </p:nvCxnSpPr>
        <p:spPr>
          <a:xfrm>
            <a:off x="9525" y="580565"/>
            <a:ext cx="85324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402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556EB-34FE-278F-B39F-67BB6F7B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600908A7-6198-0CCF-95A3-8675A2085672}"/>
              </a:ext>
            </a:extLst>
          </p:cNvPr>
          <p:cNvSpPr txBox="1"/>
          <p:nvPr/>
        </p:nvSpPr>
        <p:spPr>
          <a:xfrm>
            <a:off x="3400659" y="23078"/>
            <a:ext cx="5387634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 dirty="0" err="1">
                <a:solidFill>
                  <a:srgbClr val="003C83"/>
                </a:solidFill>
                <a:latin typeface="Calibri"/>
              </a:rPr>
              <a:t>Lineamiento</a:t>
            </a:r>
            <a:r>
              <a:rPr sz="2600" b="1" i="0" dirty="0">
                <a:solidFill>
                  <a:srgbClr val="003C83"/>
                </a:solidFill>
                <a:latin typeface="Calibri"/>
              </a:rPr>
              <a:t> de </a:t>
            </a:r>
            <a:r>
              <a:rPr sz="2600" b="1" i="0" dirty="0" err="1">
                <a:solidFill>
                  <a:srgbClr val="003C83"/>
                </a:solidFill>
                <a:latin typeface="Calibri"/>
              </a:rPr>
              <a:t>desarrollo</a:t>
            </a:r>
            <a:r>
              <a:rPr sz="2600" b="1" i="0" dirty="0">
                <a:solidFill>
                  <a:srgbClr val="003C83"/>
                </a:solidFill>
                <a:latin typeface="Calibri"/>
              </a:rPr>
              <a:t> de API's</a:t>
            </a:r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1E554383-3BC5-D415-7BD6-1C72D5F25A12}"/>
              </a:ext>
            </a:extLst>
          </p:cNvPr>
          <p:cNvSpPr/>
          <p:nvPr/>
        </p:nvSpPr>
        <p:spPr>
          <a:xfrm>
            <a:off x="320040" y="469829"/>
            <a:ext cx="11548872" cy="274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F2D31F7A-6B97-50C5-EC5E-3D910C77EEEC}"/>
              </a:ext>
            </a:extLst>
          </p:cNvPr>
          <p:cNvSpPr/>
          <p:nvPr/>
        </p:nvSpPr>
        <p:spPr>
          <a:xfrm>
            <a:off x="320040" y="794659"/>
            <a:ext cx="534924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4">
            <a:extLst>
              <a:ext uri="{FF2B5EF4-FFF2-40B4-BE49-F238E27FC236}">
                <a16:creationId xmlns:a16="http://schemas.microsoft.com/office/drawing/2014/main" id="{C0723CA7-83D8-0009-F6A6-26C8EB6B8263}"/>
              </a:ext>
            </a:extLst>
          </p:cNvPr>
          <p:cNvSpPr/>
          <p:nvPr/>
        </p:nvSpPr>
        <p:spPr>
          <a:xfrm>
            <a:off x="521207" y="748939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A06C1C4-ACE6-8C64-8A07-F979163A49BB}"/>
              </a:ext>
            </a:extLst>
          </p:cNvPr>
          <p:cNvSpPr txBox="1"/>
          <p:nvPr/>
        </p:nvSpPr>
        <p:spPr>
          <a:xfrm>
            <a:off x="320040" y="865084"/>
            <a:ext cx="50171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Funcionamiento sobre protocolo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Separación cliente Servido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API </a:t>
            </a:r>
            <a:r>
              <a:rPr lang="es-ES" sz="1200" dirty="0" err="1"/>
              <a:t>Rest</a:t>
            </a:r>
            <a:r>
              <a:rPr lang="es-ES" sz="1200" dirty="0"/>
              <a:t> – Diseño en </a:t>
            </a:r>
            <a:r>
              <a:rPr lang="es-ES" sz="1200" dirty="0" err="1"/>
              <a:t>Json</a:t>
            </a:r>
            <a:r>
              <a:rPr lang="es-ES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Orientada a entidad de negocio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Proveedor de Identidad Azure 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Net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Framework .</a:t>
            </a:r>
            <a:r>
              <a:rPr lang="es-ES" sz="1200"/>
              <a:t>NET 10 </a:t>
            </a:r>
            <a:r>
              <a:rPr lang="es-ES" sz="1200" dirty="0"/>
              <a:t>o superior  (Lenguaje C#)</a:t>
            </a:r>
            <a:endParaRPr lang="es-CL" sz="1600" dirty="0"/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AE7C98ED-C904-CBD3-E54E-E4B77182973B}"/>
              </a:ext>
            </a:extLst>
          </p:cNvPr>
          <p:cNvSpPr txBox="1"/>
          <p:nvPr/>
        </p:nvSpPr>
        <p:spPr>
          <a:xfrm>
            <a:off x="1289067" y="674332"/>
            <a:ext cx="1084550" cy="222438"/>
          </a:xfrm>
          <a:prstGeom prst="rect">
            <a:avLst/>
          </a:prstGeom>
          <a:solidFill>
            <a:schemeClr val="bg1"/>
          </a:solidFill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 dirty="0" err="1">
                <a:solidFill>
                  <a:srgbClr val="003C83"/>
                </a:solidFill>
                <a:latin typeface="Calibri"/>
              </a:rPr>
              <a:t>Lineamiento</a:t>
            </a:r>
            <a:endParaRPr sz="1350" b="1" i="0" dirty="0">
              <a:solidFill>
                <a:srgbClr val="003C83"/>
              </a:solidFill>
              <a:latin typeface="Calibri"/>
            </a:endParaRPr>
          </a:p>
        </p:txBody>
      </p:sp>
      <p:sp>
        <p:nvSpPr>
          <p:cNvPr id="58" name="Rounded Rectangle 31">
            <a:extLst>
              <a:ext uri="{FF2B5EF4-FFF2-40B4-BE49-F238E27FC236}">
                <a16:creationId xmlns:a16="http://schemas.microsoft.com/office/drawing/2014/main" id="{452A6AD4-9594-7D05-0974-401FC9B149F5}"/>
              </a:ext>
            </a:extLst>
          </p:cNvPr>
          <p:cNvSpPr/>
          <p:nvPr/>
        </p:nvSpPr>
        <p:spPr>
          <a:xfrm>
            <a:off x="5897879" y="794659"/>
            <a:ext cx="6196149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32">
            <a:extLst>
              <a:ext uri="{FF2B5EF4-FFF2-40B4-BE49-F238E27FC236}">
                <a16:creationId xmlns:a16="http://schemas.microsoft.com/office/drawing/2014/main" id="{4724A87A-268B-262B-0C48-FC5AD0762490}"/>
              </a:ext>
            </a:extLst>
          </p:cNvPr>
          <p:cNvSpPr/>
          <p:nvPr/>
        </p:nvSpPr>
        <p:spPr>
          <a:xfrm>
            <a:off x="6099048" y="748939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33">
            <a:extLst>
              <a:ext uri="{FF2B5EF4-FFF2-40B4-BE49-F238E27FC236}">
                <a16:creationId xmlns:a16="http://schemas.microsoft.com/office/drawing/2014/main" id="{FFCC156C-FDF1-95CC-6B9E-D77CE88D3D63}"/>
              </a:ext>
            </a:extLst>
          </p:cNvPr>
          <p:cNvSpPr txBox="1"/>
          <p:nvPr/>
        </p:nvSpPr>
        <p:spPr>
          <a:xfrm>
            <a:off x="6943789" y="684739"/>
            <a:ext cx="1480859" cy="219841"/>
          </a:xfrm>
          <a:prstGeom prst="rect">
            <a:avLst/>
          </a:prstGeom>
          <a:solidFill>
            <a:schemeClr val="bg1"/>
          </a:solidFill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 dirty="0" err="1">
                <a:solidFill>
                  <a:srgbClr val="003C83"/>
                </a:solidFill>
                <a:latin typeface="Calibri"/>
              </a:rPr>
              <a:t>Documentación</a:t>
            </a:r>
            <a:r>
              <a:rPr sz="1350" b="1" i="0" dirty="0">
                <a:solidFill>
                  <a:srgbClr val="003C83"/>
                </a:solidFill>
                <a:latin typeface="Calibri"/>
              </a:rPr>
              <a:t> API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D2D0B07-E5F1-962A-F422-7CD8A368CC37}"/>
              </a:ext>
            </a:extLst>
          </p:cNvPr>
          <p:cNvSpPr txBox="1"/>
          <p:nvPr/>
        </p:nvSpPr>
        <p:spPr>
          <a:xfrm>
            <a:off x="6012678" y="942364"/>
            <a:ext cx="3849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Documentación con </a:t>
            </a:r>
            <a:r>
              <a:rPr lang="es-ES" sz="1200" dirty="0" err="1"/>
              <a:t>Swagger</a:t>
            </a:r>
            <a:endParaRPr lang="es-E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Información general de la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Rutas disponibles (</a:t>
            </a:r>
            <a:r>
              <a:rPr lang="es-ES" sz="1200" dirty="0" err="1"/>
              <a:t>endpoint</a:t>
            </a:r>
            <a:r>
              <a:rPr lang="es-ES" sz="12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Operaciones disponibles (PUT, GET)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Request</a:t>
            </a:r>
            <a:r>
              <a:rPr lang="es-ES" sz="1200" dirty="0"/>
              <a:t> y Response de cada operación</a:t>
            </a:r>
            <a:endParaRPr lang="es-CL" sz="1200" dirty="0"/>
          </a:p>
        </p:txBody>
      </p:sp>
      <p:sp>
        <p:nvSpPr>
          <p:cNvPr id="66" name="Rounded Rectangle 35">
            <a:extLst>
              <a:ext uri="{FF2B5EF4-FFF2-40B4-BE49-F238E27FC236}">
                <a16:creationId xmlns:a16="http://schemas.microsoft.com/office/drawing/2014/main" id="{8B119B77-80A6-EE7F-C637-FD1ECD77EEEF}"/>
              </a:ext>
            </a:extLst>
          </p:cNvPr>
          <p:cNvSpPr/>
          <p:nvPr/>
        </p:nvSpPr>
        <p:spPr>
          <a:xfrm>
            <a:off x="9692640" y="94236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36">
            <a:extLst>
              <a:ext uri="{FF2B5EF4-FFF2-40B4-BE49-F238E27FC236}">
                <a16:creationId xmlns:a16="http://schemas.microsoft.com/office/drawing/2014/main" id="{F3A3FD08-6D09-5C8E-C039-F357F044134C}"/>
              </a:ext>
            </a:extLst>
          </p:cNvPr>
          <p:cNvSpPr txBox="1"/>
          <p:nvPr/>
        </p:nvSpPr>
        <p:spPr>
          <a:xfrm>
            <a:off x="9692640" y="942364"/>
            <a:ext cx="5486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70" name="TextBox 37">
            <a:extLst>
              <a:ext uri="{FF2B5EF4-FFF2-40B4-BE49-F238E27FC236}">
                <a16:creationId xmlns:a16="http://schemas.microsoft.com/office/drawing/2014/main" id="{7DD65FA2-21D2-4A4D-1BC4-9B34BCFDB38F}"/>
              </a:ext>
            </a:extLst>
          </p:cNvPr>
          <p:cNvSpPr txBox="1"/>
          <p:nvPr/>
        </p:nvSpPr>
        <p:spPr>
          <a:xfrm>
            <a:off x="10332720" y="942364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D3748"/>
                </a:solidFill>
                <a:latin typeface="Calibri"/>
              </a:rPr>
              <a:t>Respuesta exitosa</a:t>
            </a:r>
          </a:p>
        </p:txBody>
      </p:sp>
      <p:sp>
        <p:nvSpPr>
          <p:cNvPr id="72" name="Rounded Rectangle 38">
            <a:extLst>
              <a:ext uri="{FF2B5EF4-FFF2-40B4-BE49-F238E27FC236}">
                <a16:creationId xmlns:a16="http://schemas.microsoft.com/office/drawing/2014/main" id="{AB389A1D-C5C9-255E-7387-EB68C6DFA9B2}"/>
              </a:ext>
            </a:extLst>
          </p:cNvPr>
          <p:cNvSpPr/>
          <p:nvPr/>
        </p:nvSpPr>
        <p:spPr>
          <a:xfrm>
            <a:off x="9692640" y="1308123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39">
            <a:extLst>
              <a:ext uri="{FF2B5EF4-FFF2-40B4-BE49-F238E27FC236}">
                <a16:creationId xmlns:a16="http://schemas.microsoft.com/office/drawing/2014/main" id="{45556201-B6AC-A009-B09D-5FC7A12F4D7C}"/>
              </a:ext>
            </a:extLst>
          </p:cNvPr>
          <p:cNvSpPr txBox="1"/>
          <p:nvPr/>
        </p:nvSpPr>
        <p:spPr>
          <a:xfrm>
            <a:off x="9692640" y="1308123"/>
            <a:ext cx="5486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401</a:t>
            </a:r>
          </a:p>
        </p:txBody>
      </p:sp>
      <p:sp>
        <p:nvSpPr>
          <p:cNvPr id="76" name="TextBox 40">
            <a:extLst>
              <a:ext uri="{FF2B5EF4-FFF2-40B4-BE49-F238E27FC236}">
                <a16:creationId xmlns:a16="http://schemas.microsoft.com/office/drawing/2014/main" id="{BF476350-E2E5-FBDA-3D75-14B79F48A600}"/>
              </a:ext>
            </a:extLst>
          </p:cNvPr>
          <p:cNvSpPr txBox="1"/>
          <p:nvPr/>
        </p:nvSpPr>
        <p:spPr>
          <a:xfrm>
            <a:off x="10332720" y="1308123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D3748"/>
                </a:solidFill>
                <a:latin typeface="Calibri"/>
              </a:rPr>
              <a:t>Respuesta autorización</a:t>
            </a:r>
          </a:p>
        </p:txBody>
      </p:sp>
      <p:sp>
        <p:nvSpPr>
          <p:cNvPr id="78" name="Rounded Rectangle 41">
            <a:extLst>
              <a:ext uri="{FF2B5EF4-FFF2-40B4-BE49-F238E27FC236}">
                <a16:creationId xmlns:a16="http://schemas.microsoft.com/office/drawing/2014/main" id="{B522C046-7E5F-ED53-68BC-2FDD817EFBDB}"/>
              </a:ext>
            </a:extLst>
          </p:cNvPr>
          <p:cNvSpPr/>
          <p:nvPr/>
        </p:nvSpPr>
        <p:spPr>
          <a:xfrm>
            <a:off x="9692640" y="1673883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42">
            <a:extLst>
              <a:ext uri="{FF2B5EF4-FFF2-40B4-BE49-F238E27FC236}">
                <a16:creationId xmlns:a16="http://schemas.microsoft.com/office/drawing/2014/main" id="{6F2C9604-AD0D-B839-AB60-A09678D9F0ED}"/>
              </a:ext>
            </a:extLst>
          </p:cNvPr>
          <p:cNvSpPr txBox="1"/>
          <p:nvPr/>
        </p:nvSpPr>
        <p:spPr>
          <a:xfrm>
            <a:off x="9692640" y="1673883"/>
            <a:ext cx="5486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500</a:t>
            </a:r>
          </a:p>
        </p:txBody>
      </p:sp>
      <p:sp>
        <p:nvSpPr>
          <p:cNvPr id="82" name="TextBox 43">
            <a:extLst>
              <a:ext uri="{FF2B5EF4-FFF2-40B4-BE49-F238E27FC236}">
                <a16:creationId xmlns:a16="http://schemas.microsoft.com/office/drawing/2014/main" id="{A95B03C1-9DBB-9E80-4FED-E1740D6516E8}"/>
              </a:ext>
            </a:extLst>
          </p:cNvPr>
          <p:cNvSpPr txBox="1"/>
          <p:nvPr/>
        </p:nvSpPr>
        <p:spPr>
          <a:xfrm>
            <a:off x="10332720" y="1673883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D3748"/>
                </a:solidFill>
                <a:latin typeface="Calibri"/>
              </a:rPr>
              <a:t>Respuesta error</a:t>
            </a:r>
          </a:p>
        </p:txBody>
      </p:sp>
      <p:sp>
        <p:nvSpPr>
          <p:cNvPr id="84" name="Rounded Rectangle 44">
            <a:extLst>
              <a:ext uri="{FF2B5EF4-FFF2-40B4-BE49-F238E27FC236}">
                <a16:creationId xmlns:a16="http://schemas.microsoft.com/office/drawing/2014/main" id="{7034383B-0AA8-9B26-079E-E89C0E1C0773}"/>
              </a:ext>
            </a:extLst>
          </p:cNvPr>
          <p:cNvSpPr/>
          <p:nvPr/>
        </p:nvSpPr>
        <p:spPr>
          <a:xfrm>
            <a:off x="5897880" y="2440578"/>
            <a:ext cx="6196148" cy="425413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45">
            <a:extLst>
              <a:ext uri="{FF2B5EF4-FFF2-40B4-BE49-F238E27FC236}">
                <a16:creationId xmlns:a16="http://schemas.microsoft.com/office/drawing/2014/main" id="{86A1FF41-54CB-AE51-D779-EED428BBD446}"/>
              </a:ext>
            </a:extLst>
          </p:cNvPr>
          <p:cNvSpPr/>
          <p:nvPr/>
        </p:nvSpPr>
        <p:spPr>
          <a:xfrm>
            <a:off x="6099048" y="2394859"/>
            <a:ext cx="640080" cy="100584"/>
          </a:xfrm>
          <a:prstGeom prst="roundRect">
            <a:avLst/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Imagen 87">
            <a:extLst>
              <a:ext uri="{FF2B5EF4-FFF2-40B4-BE49-F238E27FC236}">
                <a16:creationId xmlns:a16="http://schemas.microsoft.com/office/drawing/2014/main" id="{C6D87526-06D9-B4A9-B4CC-DB75F4D76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434209" y="3095723"/>
            <a:ext cx="933498" cy="228612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3D220164-51E9-D430-2B36-15644108B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70133" y="4820114"/>
            <a:ext cx="2114659" cy="368319"/>
          </a:xfrm>
          <a:prstGeom prst="rect">
            <a:avLst/>
          </a:prstGeom>
        </p:spPr>
      </p:pic>
      <p:sp>
        <p:nvSpPr>
          <p:cNvPr id="100" name="Rounded Rectangle 53">
            <a:extLst>
              <a:ext uri="{FF2B5EF4-FFF2-40B4-BE49-F238E27FC236}">
                <a16:creationId xmlns:a16="http://schemas.microsoft.com/office/drawing/2014/main" id="{CE7A4067-1C6C-0CA2-F5EC-E186452B7A44}"/>
              </a:ext>
            </a:extLst>
          </p:cNvPr>
          <p:cNvSpPr/>
          <p:nvPr/>
        </p:nvSpPr>
        <p:spPr>
          <a:xfrm>
            <a:off x="6214561" y="3551357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54">
            <a:extLst>
              <a:ext uri="{FF2B5EF4-FFF2-40B4-BE49-F238E27FC236}">
                <a16:creationId xmlns:a16="http://schemas.microsoft.com/office/drawing/2014/main" id="{2602F0D2-9129-6DA8-7C0D-180993F33E33}"/>
              </a:ext>
            </a:extLst>
          </p:cNvPr>
          <p:cNvSpPr txBox="1"/>
          <p:nvPr/>
        </p:nvSpPr>
        <p:spPr>
          <a:xfrm>
            <a:off x="6214561" y="3551357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Autenticación</a:t>
            </a:r>
          </a:p>
        </p:txBody>
      </p: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07998D95-DD65-B30F-9BD7-A0A3986A8811}"/>
              </a:ext>
            </a:extLst>
          </p:cNvPr>
          <p:cNvGrpSpPr/>
          <p:nvPr/>
        </p:nvGrpSpPr>
        <p:grpSpPr>
          <a:xfrm>
            <a:off x="6214561" y="2664823"/>
            <a:ext cx="4558637" cy="342900"/>
            <a:chOff x="6214561" y="2838994"/>
            <a:chExt cx="4558637" cy="342900"/>
          </a:xfrm>
        </p:grpSpPr>
        <p:sp>
          <p:nvSpPr>
            <p:cNvPr id="92" name="Rounded Rectangle 47">
              <a:extLst>
                <a:ext uri="{FF2B5EF4-FFF2-40B4-BE49-F238E27FC236}">
                  <a16:creationId xmlns:a16="http://schemas.microsoft.com/office/drawing/2014/main" id="{859B6E21-F4F3-6963-45EC-3DBD3BF8874B}"/>
                </a:ext>
              </a:extLst>
            </p:cNvPr>
            <p:cNvSpPr/>
            <p:nvPr/>
          </p:nvSpPr>
          <p:spPr>
            <a:xfrm>
              <a:off x="6214561" y="2838994"/>
              <a:ext cx="1737360" cy="342900"/>
            </a:xfrm>
            <a:prstGeom prst="roundRect">
              <a:avLst>
                <a:gd name="adj" fmla="val 50000"/>
              </a:avLst>
            </a:prstGeom>
            <a:solidFill>
              <a:srgbClr val="0037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48">
              <a:extLst>
                <a:ext uri="{FF2B5EF4-FFF2-40B4-BE49-F238E27FC236}">
                  <a16:creationId xmlns:a16="http://schemas.microsoft.com/office/drawing/2014/main" id="{6B5763FE-76D6-8AD4-D228-E5B9E5FE4656}"/>
                </a:ext>
              </a:extLst>
            </p:cNvPr>
            <p:cNvSpPr txBox="1"/>
            <p:nvPr/>
          </p:nvSpPr>
          <p:spPr>
            <a:xfrm>
              <a:off x="6214561" y="2838994"/>
              <a:ext cx="1737360" cy="342900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930" b="1" i="0">
                  <a:solidFill>
                    <a:srgbClr val="FFFFFF"/>
                  </a:solidFill>
                  <a:latin typeface="Calibri"/>
                </a:rPr>
                <a:t>Capa – Presentación</a:t>
              </a:r>
            </a:p>
          </p:txBody>
        </p:sp>
        <p:sp>
          <p:nvSpPr>
            <p:cNvPr id="124" name="CuadroTexto 123">
              <a:extLst>
                <a:ext uri="{FF2B5EF4-FFF2-40B4-BE49-F238E27FC236}">
                  <a16:creationId xmlns:a16="http://schemas.microsoft.com/office/drawing/2014/main" id="{D4D0ABFF-0EC8-926F-592E-E1644B24D766}"/>
                </a:ext>
              </a:extLst>
            </p:cNvPr>
            <p:cNvSpPr txBox="1"/>
            <p:nvPr/>
          </p:nvSpPr>
          <p:spPr>
            <a:xfrm>
              <a:off x="7951921" y="2838994"/>
              <a:ext cx="28212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/>
                <a:t>Controlador de API (</a:t>
              </a:r>
              <a:r>
                <a:rPr lang="es-ES" sz="1400" dirty="0" err="1"/>
                <a:t>EndPoint</a:t>
              </a:r>
              <a:r>
                <a:rPr lang="es-ES" sz="1400" dirty="0"/>
                <a:t>)</a:t>
              </a:r>
              <a:endParaRPr lang="es-CL" dirty="0"/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21D39A13-0E19-B175-52DA-AF0DEBBFBE6D}"/>
              </a:ext>
            </a:extLst>
          </p:cNvPr>
          <p:cNvGrpSpPr/>
          <p:nvPr/>
        </p:nvGrpSpPr>
        <p:grpSpPr>
          <a:xfrm>
            <a:off x="6214561" y="3048157"/>
            <a:ext cx="5341112" cy="397390"/>
            <a:chOff x="6214561" y="3200556"/>
            <a:chExt cx="5341112" cy="397390"/>
          </a:xfrm>
        </p:grpSpPr>
        <p:sp>
          <p:nvSpPr>
            <p:cNvPr id="96" name="Rounded Rectangle 50">
              <a:extLst>
                <a:ext uri="{FF2B5EF4-FFF2-40B4-BE49-F238E27FC236}">
                  <a16:creationId xmlns:a16="http://schemas.microsoft.com/office/drawing/2014/main" id="{1D5DD24A-0543-F467-9405-E888A8CC8F75}"/>
                </a:ext>
              </a:extLst>
            </p:cNvPr>
            <p:cNvSpPr/>
            <p:nvPr/>
          </p:nvSpPr>
          <p:spPr>
            <a:xfrm>
              <a:off x="6214561" y="3255046"/>
              <a:ext cx="1737360" cy="342900"/>
            </a:xfrm>
            <a:prstGeom prst="roundRect">
              <a:avLst>
                <a:gd name="adj" fmla="val 50000"/>
              </a:avLst>
            </a:prstGeom>
            <a:solidFill>
              <a:srgbClr val="0037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51">
              <a:extLst>
                <a:ext uri="{FF2B5EF4-FFF2-40B4-BE49-F238E27FC236}">
                  <a16:creationId xmlns:a16="http://schemas.microsoft.com/office/drawing/2014/main" id="{2579F1A7-6070-32AF-3AAD-2956AD88227A}"/>
                </a:ext>
              </a:extLst>
            </p:cNvPr>
            <p:cNvSpPr txBox="1"/>
            <p:nvPr/>
          </p:nvSpPr>
          <p:spPr>
            <a:xfrm>
              <a:off x="6214561" y="3255046"/>
              <a:ext cx="1737360" cy="342900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930" b="1" i="0">
                  <a:solidFill>
                    <a:srgbClr val="FFFFFF"/>
                  </a:solidFill>
                  <a:latin typeface="Calibri"/>
                </a:rPr>
                <a:t>Capa – Aplicación</a:t>
              </a:r>
            </a:p>
          </p:txBody>
        </p:sp>
        <p:sp>
          <p:nvSpPr>
            <p:cNvPr id="126" name="CuadroTexto 125">
              <a:extLst>
                <a:ext uri="{FF2B5EF4-FFF2-40B4-BE49-F238E27FC236}">
                  <a16:creationId xmlns:a16="http://schemas.microsoft.com/office/drawing/2014/main" id="{D8ADE8CE-0670-E581-F5BC-1B6E02B772AF}"/>
                </a:ext>
              </a:extLst>
            </p:cNvPr>
            <p:cNvSpPr txBox="1"/>
            <p:nvPr/>
          </p:nvSpPr>
          <p:spPr>
            <a:xfrm>
              <a:off x="7962847" y="3200556"/>
              <a:ext cx="35928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/>
                <a:t>Gestión de respuesta (recibe solicitud http)</a:t>
              </a:r>
              <a:endParaRPr lang="es-CL" dirty="0"/>
            </a:p>
          </p:txBody>
        </p:sp>
      </p:grp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60FE79F3-7316-5327-7EFC-FBD98C4D0A5C}"/>
              </a:ext>
            </a:extLst>
          </p:cNvPr>
          <p:cNvSpPr txBox="1"/>
          <p:nvPr/>
        </p:nvSpPr>
        <p:spPr>
          <a:xfrm>
            <a:off x="8002879" y="3538800"/>
            <a:ext cx="3849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Token + Key Vault vía Azure Arc (sin secretos locales)</a:t>
            </a:r>
            <a:endParaRPr lang="es-CL" sz="1400" dirty="0"/>
          </a:p>
        </p:txBody>
      </p:sp>
      <p:grpSp>
        <p:nvGrpSpPr>
          <p:cNvPr id="144" name="Grupo 143">
            <a:extLst>
              <a:ext uri="{FF2B5EF4-FFF2-40B4-BE49-F238E27FC236}">
                <a16:creationId xmlns:a16="http://schemas.microsoft.com/office/drawing/2014/main" id="{BC4E1F9E-9E66-AC1A-0E70-F279F93673DC}"/>
              </a:ext>
            </a:extLst>
          </p:cNvPr>
          <p:cNvGrpSpPr/>
          <p:nvPr/>
        </p:nvGrpSpPr>
        <p:grpSpPr>
          <a:xfrm>
            <a:off x="6214561" y="3953844"/>
            <a:ext cx="5770610" cy="523220"/>
            <a:chOff x="6214561" y="4051813"/>
            <a:chExt cx="5770610" cy="523220"/>
          </a:xfrm>
        </p:grpSpPr>
        <p:sp>
          <p:nvSpPr>
            <p:cNvPr id="104" name="Rounded Rectangle 56">
              <a:extLst>
                <a:ext uri="{FF2B5EF4-FFF2-40B4-BE49-F238E27FC236}">
                  <a16:creationId xmlns:a16="http://schemas.microsoft.com/office/drawing/2014/main" id="{E3ADF06F-B7FD-0231-32D4-48BEA393B6A8}"/>
                </a:ext>
              </a:extLst>
            </p:cNvPr>
            <p:cNvSpPr/>
            <p:nvPr/>
          </p:nvSpPr>
          <p:spPr>
            <a:xfrm>
              <a:off x="6214561" y="4087150"/>
              <a:ext cx="1737360" cy="342900"/>
            </a:xfrm>
            <a:prstGeom prst="roundRect">
              <a:avLst>
                <a:gd name="adj" fmla="val 50000"/>
              </a:avLst>
            </a:prstGeom>
            <a:solidFill>
              <a:srgbClr val="0037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TextBox 57">
              <a:extLst>
                <a:ext uri="{FF2B5EF4-FFF2-40B4-BE49-F238E27FC236}">
                  <a16:creationId xmlns:a16="http://schemas.microsoft.com/office/drawing/2014/main" id="{23D0F0C5-3AC1-8201-E6E0-FFBE36803A2F}"/>
                </a:ext>
              </a:extLst>
            </p:cNvPr>
            <p:cNvSpPr txBox="1"/>
            <p:nvPr/>
          </p:nvSpPr>
          <p:spPr>
            <a:xfrm>
              <a:off x="6214561" y="4087150"/>
              <a:ext cx="1737360" cy="342900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930" b="1" i="0">
                  <a:solidFill>
                    <a:srgbClr val="FFFFFF"/>
                  </a:solidFill>
                  <a:latin typeface="Calibri"/>
                </a:rPr>
                <a:t>Capa – Útiles</a:t>
              </a:r>
            </a:p>
          </p:txBody>
        </p:sp>
        <p:sp>
          <p:nvSpPr>
            <p:cNvPr id="130" name="CuadroTexto 129">
              <a:extLst>
                <a:ext uri="{FF2B5EF4-FFF2-40B4-BE49-F238E27FC236}">
                  <a16:creationId xmlns:a16="http://schemas.microsoft.com/office/drawing/2014/main" id="{26310205-BF78-9831-006C-A8805BD3DE81}"/>
                </a:ext>
              </a:extLst>
            </p:cNvPr>
            <p:cNvSpPr txBox="1"/>
            <p:nvPr/>
          </p:nvSpPr>
          <p:spPr>
            <a:xfrm>
              <a:off x="7962847" y="4051813"/>
              <a:ext cx="4022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/>
                <a:t>Realización de transformación de variables y validaciones de campos </a:t>
              </a:r>
              <a:endParaRPr lang="es-CL" dirty="0"/>
            </a:p>
          </p:txBody>
        </p: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57DDD71D-7EA6-2359-9D08-632CA6488B71}"/>
              </a:ext>
            </a:extLst>
          </p:cNvPr>
          <p:cNvGrpSpPr/>
          <p:nvPr/>
        </p:nvGrpSpPr>
        <p:grpSpPr>
          <a:xfrm>
            <a:off x="6214561" y="4416119"/>
            <a:ext cx="5879467" cy="542378"/>
            <a:chOff x="6214561" y="4503202"/>
            <a:chExt cx="5879467" cy="542378"/>
          </a:xfrm>
        </p:grpSpPr>
        <p:sp>
          <p:nvSpPr>
            <p:cNvPr id="108" name="Rounded Rectangle 59">
              <a:extLst>
                <a:ext uri="{FF2B5EF4-FFF2-40B4-BE49-F238E27FC236}">
                  <a16:creationId xmlns:a16="http://schemas.microsoft.com/office/drawing/2014/main" id="{2CE68E50-E33F-3425-9F1B-8E921C496DEF}"/>
                </a:ext>
              </a:extLst>
            </p:cNvPr>
            <p:cNvSpPr/>
            <p:nvPr/>
          </p:nvSpPr>
          <p:spPr>
            <a:xfrm>
              <a:off x="6214561" y="4503202"/>
              <a:ext cx="1737360" cy="342900"/>
            </a:xfrm>
            <a:prstGeom prst="roundRect">
              <a:avLst>
                <a:gd name="adj" fmla="val 50000"/>
              </a:avLst>
            </a:prstGeom>
            <a:solidFill>
              <a:srgbClr val="0037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TextBox 60">
              <a:extLst>
                <a:ext uri="{FF2B5EF4-FFF2-40B4-BE49-F238E27FC236}">
                  <a16:creationId xmlns:a16="http://schemas.microsoft.com/office/drawing/2014/main" id="{AD6141A4-C25C-EB5F-ACA5-50B5F582D32A}"/>
                </a:ext>
              </a:extLst>
            </p:cNvPr>
            <p:cNvSpPr txBox="1"/>
            <p:nvPr/>
          </p:nvSpPr>
          <p:spPr>
            <a:xfrm>
              <a:off x="6214561" y="4503202"/>
              <a:ext cx="1737360" cy="342900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930" b="1" i="0">
                  <a:solidFill>
                    <a:srgbClr val="FFFFFF"/>
                  </a:solidFill>
                  <a:latin typeface="Calibri"/>
                </a:rPr>
                <a:t>Capa – Servicios</a:t>
              </a:r>
            </a:p>
          </p:txBody>
        </p:sp>
        <p:sp>
          <p:nvSpPr>
            <p:cNvPr id="132" name="CuadroTexto 131">
              <a:extLst>
                <a:ext uri="{FF2B5EF4-FFF2-40B4-BE49-F238E27FC236}">
                  <a16:creationId xmlns:a16="http://schemas.microsoft.com/office/drawing/2014/main" id="{59D34AEE-D15D-3829-068C-4A46FCF70335}"/>
                </a:ext>
              </a:extLst>
            </p:cNvPr>
            <p:cNvSpPr txBox="1"/>
            <p:nvPr/>
          </p:nvSpPr>
          <p:spPr>
            <a:xfrm>
              <a:off x="7962846" y="4522360"/>
              <a:ext cx="41311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/>
                <a:t>Lógica de negocio (reglas o lógica en base a la funcionalidad)</a:t>
              </a:r>
              <a:endParaRPr lang="es-CL" dirty="0"/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B0C80B2-D079-D0FC-F3C7-AD73E314A822}"/>
              </a:ext>
            </a:extLst>
          </p:cNvPr>
          <p:cNvGrpSpPr/>
          <p:nvPr/>
        </p:nvGrpSpPr>
        <p:grpSpPr>
          <a:xfrm>
            <a:off x="6214561" y="4875713"/>
            <a:ext cx="5879467" cy="342900"/>
            <a:chOff x="6214561" y="4919254"/>
            <a:chExt cx="5879467" cy="342900"/>
          </a:xfrm>
        </p:grpSpPr>
        <p:sp>
          <p:nvSpPr>
            <p:cNvPr id="112" name="Rounded Rectangle 62">
              <a:extLst>
                <a:ext uri="{FF2B5EF4-FFF2-40B4-BE49-F238E27FC236}">
                  <a16:creationId xmlns:a16="http://schemas.microsoft.com/office/drawing/2014/main" id="{0436355E-F2D2-1CAA-CE84-C9261235A364}"/>
                </a:ext>
              </a:extLst>
            </p:cNvPr>
            <p:cNvSpPr/>
            <p:nvPr/>
          </p:nvSpPr>
          <p:spPr>
            <a:xfrm>
              <a:off x="6214561" y="4919254"/>
              <a:ext cx="1737360" cy="342900"/>
            </a:xfrm>
            <a:prstGeom prst="roundRect">
              <a:avLst>
                <a:gd name="adj" fmla="val 50000"/>
              </a:avLst>
            </a:prstGeom>
            <a:solidFill>
              <a:srgbClr val="0037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63">
              <a:extLst>
                <a:ext uri="{FF2B5EF4-FFF2-40B4-BE49-F238E27FC236}">
                  <a16:creationId xmlns:a16="http://schemas.microsoft.com/office/drawing/2014/main" id="{2F95A5B4-F524-898F-4923-C4F201483F0C}"/>
                </a:ext>
              </a:extLst>
            </p:cNvPr>
            <p:cNvSpPr txBox="1"/>
            <p:nvPr/>
          </p:nvSpPr>
          <p:spPr>
            <a:xfrm>
              <a:off x="6214561" y="4919254"/>
              <a:ext cx="1737360" cy="342900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930" b="1" i="0">
                  <a:solidFill>
                    <a:srgbClr val="FFFFFF"/>
                  </a:solidFill>
                  <a:latin typeface="Calibri"/>
                </a:rPr>
                <a:t>Capa – Logs</a:t>
              </a:r>
            </a:p>
          </p:txBody>
        </p:sp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C5B0CFAC-ECC0-12A6-1A1F-06F513A2ABD8}"/>
                </a:ext>
              </a:extLst>
            </p:cNvPr>
            <p:cNvSpPr txBox="1"/>
            <p:nvPr/>
          </p:nvSpPr>
          <p:spPr>
            <a:xfrm>
              <a:off x="7973731" y="4952045"/>
              <a:ext cx="41202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/>
                <a:t>Manejo control de auditoria y/o control de errores </a:t>
              </a:r>
              <a:endParaRPr lang="es-CL" dirty="0"/>
            </a:p>
          </p:txBody>
        </p:sp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E5E59F72-15CD-A754-84F7-C11759B2178D}"/>
              </a:ext>
            </a:extLst>
          </p:cNvPr>
          <p:cNvGrpSpPr/>
          <p:nvPr/>
        </p:nvGrpSpPr>
        <p:grpSpPr>
          <a:xfrm>
            <a:off x="6214561" y="5302651"/>
            <a:ext cx="4580446" cy="386836"/>
            <a:chOff x="6214561" y="5335306"/>
            <a:chExt cx="4580446" cy="386836"/>
          </a:xfrm>
        </p:grpSpPr>
        <p:sp>
          <p:nvSpPr>
            <p:cNvPr id="116" name="Rounded Rectangle 65">
              <a:extLst>
                <a:ext uri="{FF2B5EF4-FFF2-40B4-BE49-F238E27FC236}">
                  <a16:creationId xmlns:a16="http://schemas.microsoft.com/office/drawing/2014/main" id="{BE750A77-1058-A31F-A01E-4FB73D3F14AC}"/>
                </a:ext>
              </a:extLst>
            </p:cNvPr>
            <p:cNvSpPr/>
            <p:nvPr/>
          </p:nvSpPr>
          <p:spPr>
            <a:xfrm>
              <a:off x="6214561" y="5335306"/>
              <a:ext cx="1737360" cy="342900"/>
            </a:xfrm>
            <a:prstGeom prst="roundRect">
              <a:avLst>
                <a:gd name="adj" fmla="val 50000"/>
              </a:avLst>
            </a:prstGeom>
            <a:solidFill>
              <a:srgbClr val="0037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TextBox 66">
              <a:extLst>
                <a:ext uri="{FF2B5EF4-FFF2-40B4-BE49-F238E27FC236}">
                  <a16:creationId xmlns:a16="http://schemas.microsoft.com/office/drawing/2014/main" id="{278CFBFC-148F-EBF0-14F9-EC35E8620F11}"/>
                </a:ext>
              </a:extLst>
            </p:cNvPr>
            <p:cNvSpPr txBox="1"/>
            <p:nvPr/>
          </p:nvSpPr>
          <p:spPr>
            <a:xfrm>
              <a:off x="6214561" y="5335306"/>
              <a:ext cx="1737360" cy="342900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930" b="1" i="0">
                  <a:solidFill>
                    <a:srgbClr val="FFFFFF"/>
                  </a:solidFill>
                  <a:latin typeface="Calibri"/>
                </a:rPr>
                <a:t>Capa – Repository</a:t>
              </a:r>
            </a:p>
          </p:txBody>
        </p:sp>
        <p:sp>
          <p:nvSpPr>
            <p:cNvPr id="136" name="CuadroTexto 135">
              <a:extLst>
                <a:ext uri="{FF2B5EF4-FFF2-40B4-BE49-F238E27FC236}">
                  <a16:creationId xmlns:a16="http://schemas.microsoft.com/office/drawing/2014/main" id="{922F5A04-2A98-FD17-3BDF-0C83B685D661}"/>
                </a:ext>
              </a:extLst>
            </p:cNvPr>
            <p:cNvSpPr txBox="1"/>
            <p:nvPr/>
          </p:nvSpPr>
          <p:spPr>
            <a:xfrm>
              <a:off x="7973730" y="5414365"/>
              <a:ext cx="28212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/>
                <a:t>Manejo acceso a los datos</a:t>
              </a:r>
              <a:endParaRPr lang="es-CL" dirty="0"/>
            </a:p>
          </p:txBody>
        </p:sp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87CDFC71-1390-B2EF-169D-8CF823558333}"/>
              </a:ext>
            </a:extLst>
          </p:cNvPr>
          <p:cNvGrpSpPr/>
          <p:nvPr/>
        </p:nvGrpSpPr>
        <p:grpSpPr>
          <a:xfrm>
            <a:off x="6214561" y="5751362"/>
            <a:ext cx="4661576" cy="390541"/>
            <a:chOff x="6214561" y="5751358"/>
            <a:chExt cx="4661576" cy="390541"/>
          </a:xfrm>
        </p:grpSpPr>
        <p:sp>
          <p:nvSpPr>
            <p:cNvPr id="120" name="Rounded Rectangle 68">
              <a:extLst>
                <a:ext uri="{FF2B5EF4-FFF2-40B4-BE49-F238E27FC236}">
                  <a16:creationId xmlns:a16="http://schemas.microsoft.com/office/drawing/2014/main" id="{4AF3A764-F308-1519-1EB9-DA632DF03FC5}"/>
                </a:ext>
              </a:extLst>
            </p:cNvPr>
            <p:cNvSpPr/>
            <p:nvPr/>
          </p:nvSpPr>
          <p:spPr>
            <a:xfrm>
              <a:off x="6214561" y="5751358"/>
              <a:ext cx="1737360" cy="342900"/>
            </a:xfrm>
            <a:prstGeom prst="roundRect">
              <a:avLst>
                <a:gd name="adj" fmla="val 50000"/>
              </a:avLst>
            </a:prstGeom>
            <a:solidFill>
              <a:srgbClr val="0037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39" name="Grupo 138">
              <a:extLst>
                <a:ext uri="{FF2B5EF4-FFF2-40B4-BE49-F238E27FC236}">
                  <a16:creationId xmlns:a16="http://schemas.microsoft.com/office/drawing/2014/main" id="{49B178ED-D143-4DCB-20E1-E24D224406DA}"/>
                </a:ext>
              </a:extLst>
            </p:cNvPr>
            <p:cNvGrpSpPr/>
            <p:nvPr/>
          </p:nvGrpSpPr>
          <p:grpSpPr>
            <a:xfrm>
              <a:off x="6214561" y="5751358"/>
              <a:ext cx="4661576" cy="390541"/>
              <a:chOff x="6214561" y="5751358"/>
              <a:chExt cx="4661576" cy="390541"/>
            </a:xfrm>
          </p:grpSpPr>
          <p:sp>
            <p:nvSpPr>
              <p:cNvPr id="122" name="TextBox 69">
                <a:extLst>
                  <a:ext uri="{FF2B5EF4-FFF2-40B4-BE49-F238E27FC236}">
                    <a16:creationId xmlns:a16="http://schemas.microsoft.com/office/drawing/2014/main" id="{4EEF403E-13B0-4D36-7D3A-0818B8BEDE91}"/>
                  </a:ext>
                </a:extLst>
              </p:cNvPr>
              <p:cNvSpPr txBox="1"/>
              <p:nvPr/>
            </p:nvSpPr>
            <p:spPr>
              <a:xfrm>
                <a:off x="6214561" y="5751358"/>
                <a:ext cx="1737360" cy="342900"/>
              </a:xfrm>
              <a:prstGeom prst="rect">
                <a:avLst/>
              </a:prstGeom>
              <a:noFill/>
            </p:spPr>
            <p:txBody>
              <a:bodyPr wrap="square" lIns="36576" tIns="18288" rIns="36576" bIns="18288" anchor="ctr">
                <a:spAutoFit/>
              </a:bodyPr>
              <a:lstStyle/>
              <a:p>
                <a:pPr algn="ctr">
                  <a:spcAft>
                    <a:spcPts val="200"/>
                  </a:spcAft>
                </a:pPr>
                <a:r>
                  <a:rPr sz="930" b="1" i="0">
                    <a:solidFill>
                      <a:srgbClr val="FFFFFF"/>
                    </a:solidFill>
                    <a:latin typeface="Calibri"/>
                  </a:rPr>
                  <a:t>Capa – Unit_test</a:t>
                </a:r>
              </a:p>
            </p:txBody>
          </p:sp>
          <p:sp>
            <p:nvSpPr>
              <p:cNvPr id="138" name="CuadroTexto 137">
                <a:extLst>
                  <a:ext uri="{FF2B5EF4-FFF2-40B4-BE49-F238E27FC236}">
                    <a16:creationId xmlns:a16="http://schemas.microsoft.com/office/drawing/2014/main" id="{D3BA2EA3-076A-568C-4715-DCFFD7994DB2}"/>
                  </a:ext>
                </a:extLst>
              </p:cNvPr>
              <p:cNvSpPr txBox="1"/>
              <p:nvPr/>
            </p:nvSpPr>
            <p:spPr>
              <a:xfrm>
                <a:off x="8054860" y="5834122"/>
                <a:ext cx="28212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400" dirty="0"/>
                  <a:t>Pruebas unitarias (Validaciones) </a:t>
                </a:r>
                <a:endParaRPr lang="es-CL" dirty="0"/>
              </a:p>
            </p:txBody>
          </p:sp>
        </p:grpSp>
      </p:grpSp>
      <p:sp>
        <p:nvSpPr>
          <p:cNvPr id="148" name="Rounded Rectangle 7">
            <a:extLst>
              <a:ext uri="{FF2B5EF4-FFF2-40B4-BE49-F238E27FC236}">
                <a16:creationId xmlns:a16="http://schemas.microsoft.com/office/drawing/2014/main" id="{E2745F36-2374-5F0F-78F0-BAFC34204A4C}"/>
              </a:ext>
            </a:extLst>
          </p:cNvPr>
          <p:cNvSpPr/>
          <p:nvPr/>
        </p:nvSpPr>
        <p:spPr>
          <a:xfrm>
            <a:off x="320040" y="2349864"/>
            <a:ext cx="5349240" cy="150767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8">
            <a:extLst>
              <a:ext uri="{FF2B5EF4-FFF2-40B4-BE49-F238E27FC236}">
                <a16:creationId xmlns:a16="http://schemas.microsoft.com/office/drawing/2014/main" id="{A69E98E0-A97C-69FB-7504-71834E1D478A}"/>
              </a:ext>
            </a:extLst>
          </p:cNvPr>
          <p:cNvSpPr/>
          <p:nvPr/>
        </p:nvSpPr>
        <p:spPr>
          <a:xfrm>
            <a:off x="521207" y="2304145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ounded Rectangle 7">
            <a:extLst>
              <a:ext uri="{FF2B5EF4-FFF2-40B4-BE49-F238E27FC236}">
                <a16:creationId xmlns:a16="http://schemas.microsoft.com/office/drawing/2014/main" id="{258A9995-D19B-07E9-6FB4-3684A04D1222}"/>
              </a:ext>
            </a:extLst>
          </p:cNvPr>
          <p:cNvSpPr/>
          <p:nvPr/>
        </p:nvSpPr>
        <p:spPr>
          <a:xfrm>
            <a:off x="305301" y="3966756"/>
            <a:ext cx="5349240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8">
            <a:extLst>
              <a:ext uri="{FF2B5EF4-FFF2-40B4-BE49-F238E27FC236}">
                <a16:creationId xmlns:a16="http://schemas.microsoft.com/office/drawing/2014/main" id="{4D99F196-444E-A940-8F7F-62E2F545AF65}"/>
              </a:ext>
            </a:extLst>
          </p:cNvPr>
          <p:cNvSpPr/>
          <p:nvPr/>
        </p:nvSpPr>
        <p:spPr>
          <a:xfrm>
            <a:off x="506468" y="3921036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7">
            <a:extLst>
              <a:ext uri="{FF2B5EF4-FFF2-40B4-BE49-F238E27FC236}">
                <a16:creationId xmlns:a16="http://schemas.microsoft.com/office/drawing/2014/main" id="{5871399F-D95C-06A1-FFA7-9EFEEECC3082}"/>
              </a:ext>
            </a:extLst>
          </p:cNvPr>
          <p:cNvSpPr/>
          <p:nvPr/>
        </p:nvSpPr>
        <p:spPr>
          <a:xfrm>
            <a:off x="327661" y="5290640"/>
            <a:ext cx="5349240" cy="14193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8">
            <a:extLst>
              <a:ext uri="{FF2B5EF4-FFF2-40B4-BE49-F238E27FC236}">
                <a16:creationId xmlns:a16="http://schemas.microsoft.com/office/drawing/2014/main" id="{43181E7C-A8D0-A989-9889-8135D94E2F35}"/>
              </a:ext>
            </a:extLst>
          </p:cNvPr>
          <p:cNvSpPr/>
          <p:nvPr/>
        </p:nvSpPr>
        <p:spPr>
          <a:xfrm>
            <a:off x="528828" y="5244920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DDC00776-BED7-3295-0CFE-A3F84FA72CD9}"/>
              </a:ext>
            </a:extLst>
          </p:cNvPr>
          <p:cNvSpPr txBox="1"/>
          <p:nvPr/>
        </p:nvSpPr>
        <p:spPr>
          <a:xfrm>
            <a:off x="616462" y="4137867"/>
            <a:ext cx="3849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</a:rPr>
              <a:t>C</a:t>
            </a:r>
            <a:r>
              <a:rPr lang="es-ES" sz="1400" dirty="0" err="1"/>
              <a:t>reate</a:t>
            </a:r>
            <a:r>
              <a:rPr lang="es-ES" sz="1400" dirty="0"/>
              <a:t>   </a:t>
            </a:r>
            <a:r>
              <a:rPr lang="es-ES" sz="1400" dirty="0">
                <a:sym typeface="Wingdings" panose="05000000000000000000" pitchFamily="2" charset="2"/>
              </a:rPr>
              <a:t> Método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R</a:t>
            </a:r>
            <a:r>
              <a:rPr lang="es-ES" sz="1400" dirty="0" err="1">
                <a:sym typeface="Wingdings" panose="05000000000000000000" pitchFamily="2" charset="2"/>
              </a:rPr>
              <a:t>ead</a:t>
            </a:r>
            <a:r>
              <a:rPr lang="es-ES" sz="1400" dirty="0">
                <a:sym typeface="Wingdings" panose="05000000000000000000" pitchFamily="2" charset="2"/>
              </a:rPr>
              <a:t>       Método lectura </a:t>
            </a:r>
            <a:r>
              <a:rPr lang="es-ES" sz="1400" dirty="0" err="1">
                <a:sym typeface="Wingdings" panose="05000000000000000000" pitchFamily="2" charset="2"/>
              </a:rPr>
              <a:t>Get</a:t>
            </a:r>
            <a:endParaRPr lang="es-ES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U</a:t>
            </a:r>
            <a:r>
              <a:rPr lang="es-ES" sz="1400" dirty="0" err="1">
                <a:sym typeface="Wingdings" panose="05000000000000000000" pitchFamily="2" charset="2"/>
              </a:rPr>
              <a:t>pdate</a:t>
            </a:r>
            <a:r>
              <a:rPr lang="es-ES" sz="1400" dirty="0">
                <a:sym typeface="Wingdings" panose="05000000000000000000" pitchFamily="2" charset="2"/>
              </a:rPr>
              <a:t>   Método actualización 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D</a:t>
            </a:r>
            <a:r>
              <a:rPr lang="es-ES" sz="1400" dirty="0" err="1">
                <a:sym typeface="Wingdings" panose="05000000000000000000" pitchFamily="2" charset="2"/>
              </a:rPr>
              <a:t>elete</a:t>
            </a:r>
            <a:r>
              <a:rPr lang="es-ES" sz="1400" dirty="0">
                <a:sym typeface="Wingdings" panose="05000000000000000000" pitchFamily="2" charset="2"/>
              </a:rPr>
              <a:t>    Método eliminación DELETE</a:t>
            </a:r>
            <a:endParaRPr lang="es-CL" sz="1400" dirty="0"/>
          </a:p>
        </p:txBody>
      </p: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557AA4ED-C85C-CCC3-3332-DB24241F01C3}"/>
              </a:ext>
            </a:extLst>
          </p:cNvPr>
          <p:cNvSpPr txBox="1"/>
          <p:nvPr/>
        </p:nvSpPr>
        <p:spPr>
          <a:xfrm>
            <a:off x="380236" y="2438475"/>
            <a:ext cx="4619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dirty="0"/>
              <a:t>Versiona miento de API (indicar la versión)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V1</a:t>
            </a:r>
            <a:endParaRPr lang="es-C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dirty="0"/>
              <a:t>Uso de sustantivos (en base a entidades)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API/ALUMNOS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dirty="0" err="1"/>
              <a:t>Sub-recursos</a:t>
            </a:r>
            <a:r>
              <a:rPr lang="es-ES" sz="1200" b="1" dirty="0"/>
              <a:t> (para relaciones)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200" dirty="0"/>
              <a:t>API/ALUMNOS/Matriculados</a:t>
            </a:r>
          </a:p>
        </p:txBody>
      </p:sp>
      <p:sp>
        <p:nvSpPr>
          <p:cNvPr id="167" name="TextBox 9">
            <a:extLst>
              <a:ext uri="{FF2B5EF4-FFF2-40B4-BE49-F238E27FC236}">
                <a16:creationId xmlns:a16="http://schemas.microsoft.com/office/drawing/2014/main" id="{066B0457-557F-1A50-A04B-FB50E391D137}"/>
              </a:ext>
            </a:extLst>
          </p:cNvPr>
          <p:cNvSpPr txBox="1"/>
          <p:nvPr/>
        </p:nvSpPr>
        <p:spPr>
          <a:xfrm>
            <a:off x="1291913" y="2244618"/>
            <a:ext cx="1443536" cy="183833"/>
          </a:xfrm>
          <a:prstGeom prst="rect">
            <a:avLst/>
          </a:prstGeom>
          <a:solidFill>
            <a:schemeClr val="bg1"/>
          </a:solidFill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 dirty="0" err="1">
                <a:solidFill>
                  <a:srgbClr val="003C83"/>
                </a:solidFill>
                <a:latin typeface="Calibri"/>
              </a:rPr>
              <a:t>Diseño</a:t>
            </a:r>
            <a:r>
              <a:rPr sz="1350" b="1" i="0" dirty="0">
                <a:solidFill>
                  <a:srgbClr val="003C83"/>
                </a:solidFill>
                <a:latin typeface="Calibri"/>
              </a:rPr>
              <a:t> de la URL</a:t>
            </a:r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F0D80F7F-515E-ED48-FE83-1294A3825979}"/>
              </a:ext>
            </a:extLst>
          </p:cNvPr>
          <p:cNvSpPr txBox="1"/>
          <p:nvPr/>
        </p:nvSpPr>
        <p:spPr>
          <a:xfrm>
            <a:off x="1272539" y="3611050"/>
            <a:ext cx="3616294" cy="1849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CL" sz="1000" b="1" i="0" dirty="0">
                <a:solidFill>
                  <a:srgbClr val="272626"/>
                </a:solidFill>
                <a:effectLst/>
                <a:latin typeface="Arial" panose="020B0604020202020204" pitchFamily="34" charset="0"/>
              </a:rPr>
              <a:t> https://host:puerto/api/</a:t>
            </a:r>
            <a:r>
              <a:rPr lang="es-CL" sz="1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v1</a:t>
            </a:r>
            <a:r>
              <a:rPr lang="es-CL" sz="1000" b="1" i="0" dirty="0">
                <a:solidFill>
                  <a:srgbClr val="272626"/>
                </a:solidFill>
                <a:effectLst/>
                <a:latin typeface="Arial" panose="020B0604020202020204" pitchFamily="34" charset="0"/>
              </a:rPr>
              <a:t>/&lt;sustantivo&gt;/&lt;subrecurso&gt;</a:t>
            </a:r>
            <a:endParaRPr lang="es-CL" sz="1000" b="1" dirty="0"/>
          </a:p>
        </p:txBody>
      </p:sp>
      <p:sp>
        <p:nvSpPr>
          <p:cNvPr id="171" name="TextBox 9">
            <a:extLst>
              <a:ext uri="{FF2B5EF4-FFF2-40B4-BE49-F238E27FC236}">
                <a16:creationId xmlns:a16="http://schemas.microsoft.com/office/drawing/2014/main" id="{89B49D98-6A2E-8F21-72C1-C21D03F98C8F}"/>
              </a:ext>
            </a:extLst>
          </p:cNvPr>
          <p:cNvSpPr txBox="1"/>
          <p:nvPr/>
        </p:nvSpPr>
        <p:spPr>
          <a:xfrm>
            <a:off x="1202089" y="3901903"/>
            <a:ext cx="1443536" cy="202216"/>
          </a:xfrm>
          <a:prstGeom prst="rect">
            <a:avLst/>
          </a:prstGeom>
          <a:solidFill>
            <a:schemeClr val="bg1"/>
          </a:solidFill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lang="es-MX" sz="1350" b="1" i="0" dirty="0" err="1">
                <a:solidFill>
                  <a:srgbClr val="003C83"/>
                </a:solidFill>
                <a:latin typeface="Calibri"/>
              </a:rPr>
              <a:t>Metodos</a:t>
            </a:r>
            <a:r>
              <a:rPr lang="es-MX" sz="1350" b="1" i="0" dirty="0">
                <a:solidFill>
                  <a:srgbClr val="003C83"/>
                </a:solidFill>
                <a:latin typeface="Calibri"/>
              </a:rPr>
              <a:t> HTTP</a:t>
            </a:r>
            <a:endParaRPr sz="1350" b="1" i="0" dirty="0">
              <a:solidFill>
                <a:srgbClr val="003C83"/>
              </a:solidFill>
              <a:latin typeface="Calibri"/>
            </a:endParaRP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48CD55F2-CAAA-F8CE-426C-9860571670EF}"/>
              </a:ext>
            </a:extLst>
          </p:cNvPr>
          <p:cNvSpPr txBox="1"/>
          <p:nvPr/>
        </p:nvSpPr>
        <p:spPr>
          <a:xfrm>
            <a:off x="543484" y="5479180"/>
            <a:ext cx="43291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Json</a:t>
            </a:r>
            <a:r>
              <a:rPr lang="es-ES" sz="1400" dirty="0"/>
              <a:t> Web Token </a:t>
            </a:r>
            <a:r>
              <a:rPr lang="es-ES" sz="1400" dirty="0">
                <a:sym typeface="Wingdings" panose="05000000000000000000" pitchFamily="2" charset="2"/>
              </a:rPr>
              <a:t> Proveedor de identidad Azure 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400" dirty="0"/>
              <a:t>Clave de API (x-</a:t>
            </a:r>
            <a:r>
              <a:rPr lang="es-CL" sz="1400" dirty="0" err="1"/>
              <a:t>xmsbs</a:t>
            </a:r>
            <a:r>
              <a:rPr lang="es-CL" sz="1400" dirty="0"/>
              <a:t>-</a:t>
            </a:r>
            <a:r>
              <a:rPr lang="es-CL" sz="1400" dirty="0" err="1"/>
              <a:t>apikey</a:t>
            </a:r>
            <a:r>
              <a:rPr lang="es-CL" sz="1400" dirty="0"/>
              <a:t>)   →   Azure Key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Cadenas de conexión de BD   →   Azure Key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Sin secretos en el servidor   →   Identidad Administrada vía Azure Arc</a:t>
            </a:r>
            <a:endParaRPr lang="es-CL" sz="1400" dirty="0"/>
          </a:p>
        </p:txBody>
      </p:sp>
      <p:sp>
        <p:nvSpPr>
          <p:cNvPr id="175" name="TextBox 9">
            <a:extLst>
              <a:ext uri="{FF2B5EF4-FFF2-40B4-BE49-F238E27FC236}">
                <a16:creationId xmlns:a16="http://schemas.microsoft.com/office/drawing/2014/main" id="{208942B4-605C-F04A-AA86-C415CC6EDB3C}"/>
              </a:ext>
            </a:extLst>
          </p:cNvPr>
          <p:cNvSpPr txBox="1"/>
          <p:nvPr/>
        </p:nvSpPr>
        <p:spPr>
          <a:xfrm>
            <a:off x="1274844" y="5207116"/>
            <a:ext cx="2976897" cy="244682"/>
          </a:xfrm>
          <a:prstGeom prst="rect">
            <a:avLst/>
          </a:prstGeom>
          <a:solidFill>
            <a:schemeClr val="bg1"/>
          </a:solidFill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lang="es-MX" sz="1350" b="1" dirty="0" err="1">
                <a:solidFill>
                  <a:srgbClr val="003C83"/>
                </a:solidFill>
                <a:latin typeface="Calibri"/>
              </a:rPr>
              <a:t>Autenticacion</a:t>
            </a:r>
            <a:r>
              <a:rPr lang="es-MX" sz="1350" b="1" dirty="0">
                <a:solidFill>
                  <a:srgbClr val="003C83"/>
                </a:solidFill>
                <a:latin typeface="Calibri"/>
              </a:rPr>
              <a:t> y </a:t>
            </a:r>
            <a:r>
              <a:rPr lang="es-MX" sz="1350" b="1" dirty="0" err="1">
                <a:solidFill>
                  <a:srgbClr val="003C83"/>
                </a:solidFill>
                <a:latin typeface="Calibri"/>
              </a:rPr>
              <a:t>Proyeccion</a:t>
            </a:r>
            <a:r>
              <a:rPr lang="es-MX" sz="1350" b="1" dirty="0">
                <a:solidFill>
                  <a:srgbClr val="003C83"/>
                </a:solidFill>
                <a:latin typeface="Calibri"/>
              </a:rPr>
              <a:t> de secretos</a:t>
            </a:r>
            <a:endParaRPr sz="1350" b="1" i="0" dirty="0">
              <a:solidFill>
                <a:srgbClr val="003C8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991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074CA20-9926-5B8C-7A1F-1DC81496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" y="773507"/>
            <a:ext cx="2790535" cy="648894"/>
          </a:xfrm>
          <a:prstGeom prst="rect">
            <a:avLst/>
          </a:prstGeom>
        </p:spPr>
      </p:pic>
      <p:cxnSp>
        <p:nvCxnSpPr>
          <p:cNvPr id="9" name="4 Conector recto">
            <a:extLst>
              <a:ext uri="{FF2B5EF4-FFF2-40B4-BE49-F238E27FC236}">
                <a16:creationId xmlns:a16="http://schemas.microsoft.com/office/drawing/2014/main" id="{354599D5-53D3-E4F8-07D8-6D1303E79DC7}"/>
              </a:ext>
            </a:extLst>
          </p:cNvPr>
          <p:cNvCxnSpPr/>
          <p:nvPr/>
        </p:nvCxnSpPr>
        <p:spPr>
          <a:xfrm>
            <a:off x="0" y="572107"/>
            <a:ext cx="85324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434608C7-B560-ADA8-6825-34245F52B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67" t="6486" r="28108"/>
          <a:stretch/>
        </p:blipFill>
        <p:spPr>
          <a:xfrm>
            <a:off x="1441917" y="2564975"/>
            <a:ext cx="2117725" cy="84255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DDDF9A0-467F-66BD-55B8-BBB6EA79C4FF}"/>
              </a:ext>
            </a:extLst>
          </p:cNvPr>
          <p:cNvSpPr txBox="1"/>
          <p:nvPr/>
        </p:nvSpPr>
        <p:spPr>
          <a:xfrm>
            <a:off x="1079500" y="1852401"/>
            <a:ext cx="34290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Token JWT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que todas las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API’s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deben manejar en su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header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la autorización del JWT  </a:t>
            </a:r>
            <a:r>
              <a:rPr lang="es-CL" sz="11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endParaRPr lang="es-CL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739B432-6C72-A799-3C79-8D13EE9FF45B}"/>
              </a:ext>
            </a:extLst>
          </p:cNvPr>
          <p:cNvSpPr txBox="1"/>
          <p:nvPr/>
        </p:nvSpPr>
        <p:spPr>
          <a:xfrm>
            <a:off x="4618575" y="1852400"/>
            <a:ext cx="3429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Descripción de la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indica que todas las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Api’s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deben tener una descripción de cual es el objetivo al cual responde (entidad)</a:t>
            </a:r>
            <a:endParaRPr lang="es-CL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4605764-A765-4266-9139-0DEB95568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724" y="2551758"/>
            <a:ext cx="2367675" cy="8502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EAAD98F-B13C-4A9F-FDB5-B80A6D68B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829" y="2544756"/>
            <a:ext cx="2711589" cy="8572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202A225-4C0A-DDBA-7FDD-418640973113}"/>
              </a:ext>
            </a:extLst>
          </p:cNvPr>
          <p:cNvSpPr txBox="1"/>
          <p:nvPr/>
        </p:nvSpPr>
        <p:spPr>
          <a:xfrm>
            <a:off x="8555575" y="1883179"/>
            <a:ext cx="3429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Descripción del </a:t>
            </a:r>
            <a:r>
              <a:rPr lang="es-CL" sz="11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endpoint</a:t>
            </a:r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indica que todas los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endpoint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deben describir cual es su funcionalidad </a:t>
            </a:r>
            <a:endParaRPr lang="es-CL" sz="11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16001A3-9EB1-6EC6-6836-3ED1743C3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099" y="4369296"/>
            <a:ext cx="2489328" cy="12304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26E53E9-EFDF-264B-D4B8-D2074A04782D}"/>
              </a:ext>
            </a:extLst>
          </p:cNvPr>
          <p:cNvSpPr txBox="1"/>
          <p:nvPr/>
        </p:nvSpPr>
        <p:spPr>
          <a:xfrm>
            <a:off x="1016000" y="3656722"/>
            <a:ext cx="3429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Descripción del Atributos de entrada</a:t>
            </a:r>
            <a:endParaRPr lang="es-CL" sz="11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que es necesario poder indicar una descripción del parámetro de entrada que se requiere recibir </a:t>
            </a:r>
            <a:endParaRPr lang="es-CL" sz="11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1A22D3C-7822-440C-8C1F-53DC00AC0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315" y="4393693"/>
            <a:ext cx="1949455" cy="12938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2D7A97B1-2BE4-B0A9-98BA-B1C00215DD28}"/>
              </a:ext>
            </a:extLst>
          </p:cNvPr>
          <p:cNvSpPr txBox="1"/>
          <p:nvPr/>
        </p:nvSpPr>
        <p:spPr>
          <a:xfrm>
            <a:off x="4749800" y="3742763"/>
            <a:ext cx="3429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Ejemplo del </a:t>
            </a:r>
            <a:r>
              <a:rPr lang="es-CL" sz="1100" b="1" dirty="0" err="1">
                <a:solidFill>
                  <a:srgbClr val="333333"/>
                </a:solidFill>
                <a:latin typeface="Arial" panose="020B0604020202020204" pitchFamily="34" charset="0"/>
              </a:rPr>
              <a:t>json</a:t>
            </a:r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 de respuesta</a:t>
            </a:r>
            <a:endParaRPr lang="es-CL" sz="11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requiere por cada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enpoint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detallar el formato del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 ejemplo que se entregara como respuesta </a:t>
            </a:r>
            <a:endParaRPr lang="es-CL" sz="11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341430A-D863-5F70-7524-017262FFD7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3702" y="4393693"/>
            <a:ext cx="2711589" cy="8613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138BB59-90FD-AE8E-884D-331826A4AD86}"/>
              </a:ext>
            </a:extLst>
          </p:cNvPr>
          <p:cNvSpPr txBox="1"/>
          <p:nvPr/>
        </p:nvSpPr>
        <p:spPr>
          <a:xfrm>
            <a:off x="8763000" y="3715813"/>
            <a:ext cx="3429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Descripción Código de respuesta</a:t>
            </a:r>
            <a:endParaRPr lang="es-CL" sz="11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debe especificar con una descripción que significa cada código de respuesta </a:t>
            </a:r>
            <a:endParaRPr lang="es-CL" sz="1100" dirty="0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55533A65-E6F5-62C3-D1E7-01362A1F1D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1483" y="2017309"/>
            <a:ext cx="1595884" cy="489457"/>
          </a:xfrm>
          <a:prstGeom prst="bentConnector2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FA9DB13C-2798-2E2C-95D8-684CC77113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689" y="3681297"/>
            <a:ext cx="1755472" cy="489457"/>
          </a:xfrm>
          <a:prstGeom prst="bentConnector2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73F7F6C-B49C-6527-987D-B34AF74FD18E}"/>
              </a:ext>
            </a:extLst>
          </p:cNvPr>
          <p:cNvCxnSpPr>
            <a:cxnSpLocks/>
          </p:cNvCxnSpPr>
          <p:nvPr/>
        </p:nvCxnSpPr>
        <p:spPr>
          <a:xfrm>
            <a:off x="7697086" y="4801645"/>
            <a:ext cx="553884" cy="4233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C10C321-040A-DC16-B99C-11172D6B48DF}"/>
              </a:ext>
            </a:extLst>
          </p:cNvPr>
          <p:cNvCxnSpPr>
            <a:cxnSpLocks/>
          </p:cNvCxnSpPr>
          <p:nvPr/>
        </p:nvCxnSpPr>
        <p:spPr>
          <a:xfrm>
            <a:off x="7697086" y="3048289"/>
            <a:ext cx="553884" cy="4233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B3991CAD-6235-3B5C-1C0C-A3D311446766}"/>
              </a:ext>
            </a:extLst>
          </p:cNvPr>
          <p:cNvCxnSpPr>
            <a:cxnSpLocks/>
          </p:cNvCxnSpPr>
          <p:nvPr/>
        </p:nvCxnSpPr>
        <p:spPr>
          <a:xfrm>
            <a:off x="4163500" y="3052522"/>
            <a:ext cx="553884" cy="4233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0A09F0E2-05D2-C43C-7AFB-444364423100}"/>
              </a:ext>
            </a:extLst>
          </p:cNvPr>
          <p:cNvCxnSpPr>
            <a:cxnSpLocks/>
          </p:cNvCxnSpPr>
          <p:nvPr/>
        </p:nvCxnSpPr>
        <p:spPr>
          <a:xfrm>
            <a:off x="4203829" y="4801645"/>
            <a:ext cx="553884" cy="4233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0" name="Imagen" descr="Imagen">
            <a:extLst>
              <a:ext uri="{FF2B5EF4-FFF2-40B4-BE49-F238E27FC236}">
                <a16:creationId xmlns:a16="http://schemas.microsoft.com/office/drawing/2014/main" id="{D94EE8CE-56E3-E246-01FC-E20E9CFD91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1681" y="175334"/>
            <a:ext cx="430274" cy="56864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4C7904C8-6F73-33D2-310C-53FFEE674778}"/>
              </a:ext>
            </a:extLst>
          </p:cNvPr>
          <p:cNvSpPr txBox="1"/>
          <p:nvPr/>
        </p:nvSpPr>
        <p:spPr>
          <a:xfrm>
            <a:off x="-629921" y="114217"/>
            <a:ext cx="5387634" cy="43704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lang="es-MX" sz="2600" b="1" i="0" dirty="0">
                <a:solidFill>
                  <a:srgbClr val="003C83"/>
                </a:solidFill>
                <a:latin typeface="Calibri"/>
              </a:rPr>
              <a:t>Detalle documentación API</a:t>
            </a:r>
            <a:endParaRPr sz="2600" b="1" i="0" dirty="0">
              <a:solidFill>
                <a:srgbClr val="003C8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4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"/>
            <a:ext cx="1036015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Conexiones a base de datos: Vault, motor y capa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0001"/>
            <a:ext cx="11548872" cy="274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" y="868680"/>
            <a:ext cx="115488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1207" y="818387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31519"/>
            <a:ext cx="3392424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Cómo llega una conexión a la capa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604772" cy="68580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Controller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Recibe la solicitud HTTP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80844" y="1412748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46020" y="1188720"/>
            <a:ext cx="1604772" cy="685800"/>
          </a:xfrm>
          <a:prstGeom prst="roundRect">
            <a:avLst>
              <a:gd name="adj" fmla="val 12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XLogic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Reglas de negocio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78224" y="1412748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1604772" cy="68580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IXRepository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Contrato de datos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5604" y="1412748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40780" y="1188720"/>
            <a:ext cx="1604772" cy="68580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IDbConnectionFactory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 la conexión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72983" y="1412748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1604772" cy="68580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Provider + nombre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Database:Provider y ConnectionStringName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70364" y="1412748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035540" y="1188720"/>
            <a:ext cx="1604772" cy="68580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Vault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Cadena de conexión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65960"/>
            <a:ext cx="1106424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 no conoce el servidor: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solo depende de la interfaz de su repositorio. La BD la define la fábrica que recibe ese repositorio (1 repositorio = 1 conexión). Una Logic puede usar varios repositorios, cada uno con su propia BD.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Hoy el blueprint trae una conexión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BlueprintDb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); la segunda se agrega con el patrón de la derecha.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971800"/>
            <a:ext cx="5715000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1207" y="2921508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34440" y="2834640"/>
            <a:ext cx="2569464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Nombres y valores en el Vault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91840"/>
            <a:ext cx="868680" cy="384048"/>
          </a:xfrm>
          <a:prstGeom prst="rect">
            <a:avLst/>
          </a:prstGeom>
          <a:solidFill>
            <a:srgbClr val="003C83"/>
          </a:solidFill>
          <a:ln w="9525">
            <a:solidFill>
              <a:srgbClr val="003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Dónde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3291840"/>
            <a:ext cx="1325880" cy="384048"/>
          </a:xfrm>
          <a:prstGeom prst="rect">
            <a:avLst/>
          </a:prstGeom>
          <a:solidFill>
            <a:srgbClr val="003C83"/>
          </a:solidFill>
          <a:ln w="9525">
            <a:solidFill>
              <a:srgbClr val="003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291840"/>
            <a:ext cx="3017520" cy="384048"/>
          </a:xfrm>
          <a:prstGeom prst="rect">
            <a:avLst/>
          </a:prstGeom>
          <a:solidFill>
            <a:srgbClr val="003C83"/>
          </a:solidFill>
          <a:ln w="9525">
            <a:solidFill>
              <a:srgbClr val="003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Nombre / valor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75888"/>
            <a:ext cx="868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Vault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3675888"/>
            <a:ext cx="1325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Secreto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675888"/>
            <a:ext cx="3017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blueprint-db-connectionstring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059936"/>
            <a:ext cx="868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 Config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059936"/>
            <a:ext cx="1325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Vault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4059936"/>
            <a:ext cx="3017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Blueprint:ConnectionStrings:BlueprintDb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43984"/>
            <a:ext cx="868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 Config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4443984"/>
            <a:ext cx="1325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4443984"/>
            <a:ext cx="3017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Blueprint:Database:Provider = Oracle | SqlServer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828032"/>
            <a:ext cx="868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user-secrets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4828032"/>
            <a:ext cx="13258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Solo local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4828032"/>
            <a:ext cx="3017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ConnectionStrings:BlueprintDb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285232"/>
            <a:ext cx="53035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Valor del secreto según el motor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522976"/>
            <a:ext cx="5349240" cy="457200"/>
          </a:xfrm>
          <a:prstGeom prst="rect">
            <a:avLst/>
          </a:prstGeom>
          <a:solidFill>
            <a:srgbClr val="F4F6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Oracle      Data Source=//host:1521/SERVICIO;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User Id=&lt;usuario&gt;;Password=&lt;clave&gt;;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035040"/>
            <a:ext cx="5349240" cy="457200"/>
          </a:xfrm>
          <a:prstGeom prst="rect">
            <a:avLst/>
          </a:prstGeom>
          <a:solidFill>
            <a:srgbClr val="F4F6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SQL Server   Server=host,1433;Database=&lt;bd&gt;;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User Id=&lt;usuario&gt;;Password=&lt;clave&gt;;Encrypt=True;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971800"/>
            <a:ext cx="5650992" cy="365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419088" y="2921508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32320" y="2834640"/>
            <a:ext cx="4133088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Agregar otra conexión (ej. Banner en SQL Server)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3291840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3273552"/>
            <a:ext cx="49560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Vault: 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crear el secreto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&lt;servicio&gt;-db-&lt;alias&gt;-connectionstring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(ej.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blueprint-db-banner-connectionstring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0" y="3785615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3767328"/>
            <a:ext cx="49560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 Config: 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clave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Blueprint:ConnectionStrings:BannerDb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como Key Vault reference, con label por entorno. Local: user-secrets.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4279392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4261104"/>
            <a:ext cx="495604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Registrar 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una fábrica con clave y un repositorio nuevo que la reciba; su Logic inyecta ese repositorio.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754880"/>
            <a:ext cx="5303520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services.AddKeyedSingleton&lt;IDbConnectionFactory&gt;("Banner", (sp, _) =&gt;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new DbConnectionFactory(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Options.Create(new DatabaseOptions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Provider = DbProviderType.SqlServer,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ConnectionStringName = "BannerDb" }),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sp.GetRequiredService&lt;IConfiguration&gt;()));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50" b="0" i="0" u="none" strike="noStrike" kern="1200" cap="none" spc="0" normalizeH="0" baseline="0" noProof="0">
              <a:ln>
                <a:noFill/>
              </a:ln>
              <a:solidFill>
                <a:srgbClr val="272626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public BannerRepository(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[FromKeyedServices("Banner")] IDbConnectionFactory factory, ...)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6172200"/>
            <a:ext cx="5349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E7B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Patrón propuesto: reutiliza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E7B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DbConnectionFactory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E7B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sin modificarla. No usar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E7B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using Oracle.*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E7B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/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E7B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SqlClient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E7B8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fuera de los adapters.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"/>
            <a:ext cx="1036015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Azure Arc y Key Vault: secretos sin credenciales en el servidor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0001"/>
            <a:ext cx="11548872" cy="274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" y="868680"/>
            <a:ext cx="1154887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1207" y="818387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31519"/>
            <a:ext cx="3968496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Cómo opera en los servidores (IIS + Azure Arc)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07008"/>
            <a:ext cx="1984248" cy="86868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 en IIS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pool de aplicación ejecuta el microservicio .NET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522476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25496" y="1207008"/>
            <a:ext cx="1984248" cy="86868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DefaultAzureCredential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Credencial única en Program.cs; detecta sola dónde corre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7176" y="1522476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02352" y="1207008"/>
            <a:ext cx="1984248" cy="868680"/>
          </a:xfrm>
          <a:prstGeom prst="roundRect">
            <a:avLst>
              <a:gd name="adj" fmla="val 12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Agente Azure Arc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Identidad administrada de la máquina (IDENTITY_ENDPOINT / IMDS_ENDPOINT)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14032" y="1522476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79208" y="1207008"/>
            <a:ext cx="1984248" cy="86868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Microsoft Entra 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Entrega un token de acceso: sin usuario, sin clave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90888" y="1522476"/>
            <a:ext cx="237744" cy="23774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56064" y="1207008"/>
            <a:ext cx="1984248" cy="868680"/>
          </a:xfrm>
          <a:prstGeom prst="roundRect">
            <a:avLst>
              <a:gd name="adj" fmla="val 12000"/>
            </a:avLst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 Configuration → Key Vault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Entrega la x-xmsbs-apikey y las cadenas de conexión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11064240" cy="59606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Requisito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servidor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agente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Arc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instalado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cuenta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 pool de IIS con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acceso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la clave de Arc (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grupo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local «Hybrid agent extension applications»);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reiniciar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 pool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tras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instalar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agente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Permisos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</a:t>
            </a:r>
            <a:r>
              <a:rPr kumimoji="0" lang="es-CL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Policies</a:t>
            </a: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 la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identidad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la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máquina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Arc: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App Configuration Data Reader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Key Vault Secrets User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secretos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appsettings.json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web.config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El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es el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mismo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servidor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equipo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del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desarrollador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246120"/>
            <a:ext cx="6263640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1207" y="3195827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34440" y="3108960"/>
            <a:ext cx="470916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Desarrollo: simular Arc desde Visual Studio 2022 / 2026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602736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584448"/>
            <a:ext cx="550468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Inicia sesión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 Visual Studio con tu cuenta AIEP y elígela en </a:t>
            </a: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Herramientas › Opciones › Autenticación del servicio de Azure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187951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169663"/>
            <a:ext cx="550468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Pide los roles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Key Vault Secrets User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App Configuration Data Reader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sobre el Vault y el App Configuration de Desarrollo.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4773167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754879"/>
            <a:ext cx="55046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Activa App Configuration en local: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launchSettings.json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define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AzureAppConfig__Endpoint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 el endpoint de Desa (en Development viene vacío y se omite).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5522975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5504688"/>
            <a:ext cx="550468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Ejecuta con F5: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DefaultAzureCredential usa tu sesión de Visual Studio (o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az login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y lee los mismos secretos que el servidor.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6108191"/>
            <a:ext cx="274320" cy="274320"/>
          </a:xfrm>
          <a:prstGeom prst="ellipse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6089903"/>
            <a:ext cx="55046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 acceso a Azure: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deja el Endpoint vacío y usa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dotnet user-secrets set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para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ConnectionStrings:BlueprintDb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Conf:ApiKey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3246120"/>
            <a:ext cx="510235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67728" y="3195827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80960" y="3108960"/>
            <a:ext cx="2898648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03C8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Qué hay en el Vault y cómo se lee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11880"/>
            <a:ext cx="2011680" cy="420624"/>
          </a:xfrm>
          <a:prstGeom prst="rect">
            <a:avLst/>
          </a:prstGeom>
          <a:solidFill>
            <a:srgbClr val="003C83"/>
          </a:solidFill>
          <a:ln w="9525">
            <a:solidFill>
              <a:srgbClr val="003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Vault (secreto)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611880"/>
            <a:ext cx="2743200" cy="420624"/>
          </a:xfrm>
          <a:prstGeom prst="rect">
            <a:avLst/>
          </a:prstGeom>
          <a:solidFill>
            <a:srgbClr val="003C83"/>
          </a:solidFill>
          <a:ln w="9525">
            <a:solidFill>
              <a:srgbClr val="003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 Configuration (clave)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032504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blueprint-api-key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403250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Blueprint:Conf:ApiKey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4453128"/>
            <a:ext cx="20116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blueprint-db-connectionstring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453128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Blueprint:ConnectionStrings:BlueprintDb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937760"/>
            <a:ext cx="47548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 leen como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Conf:ApiKey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(header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x-xmsbs-apikey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y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ConnectionStrings:BlueprintDb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394960"/>
            <a:ext cx="475488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Label = entorno 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(Development / QA / Production). Con App Configuration activo, gana sobre user-secrets y variables de entorno.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Rotar la API key: 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publicar la nueva en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Conf:AdditionalKeys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 tocar </a:t>
            </a: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Blueprint:Sentinel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262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(refresca en ≤ 5 min, sin reiniciar).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ea2a36-3ff1-464c-8518-c7162bc31587">
      <Terms xmlns="http://schemas.microsoft.com/office/infopath/2007/PartnerControls"/>
    </lcf76f155ced4ddcb4097134ff3c332f>
    <TaxCatchAll xmlns="678cbe22-5c2d-4f8c-89f9-2e9b3cb7092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81604CA957AD54F955BE5D9569AE521" ma:contentTypeVersion="15" ma:contentTypeDescription="Crear nuevo documento." ma:contentTypeScope="" ma:versionID="5389ae1f6066fb001ddf3f562ccc2114">
  <xsd:schema xmlns:xsd="http://www.w3.org/2001/XMLSchema" xmlns:xs="http://www.w3.org/2001/XMLSchema" xmlns:p="http://schemas.microsoft.com/office/2006/metadata/properties" xmlns:ns2="c2ea2a36-3ff1-464c-8518-c7162bc31587" xmlns:ns3="678cbe22-5c2d-4f8c-89f9-2e9b3cb70921" targetNamespace="http://schemas.microsoft.com/office/2006/metadata/properties" ma:root="true" ma:fieldsID="f62fb454a35a6660fd6a539585d0dd4d" ns2:_="" ns3:_="">
    <xsd:import namespace="c2ea2a36-3ff1-464c-8518-c7162bc31587"/>
    <xsd:import namespace="678cbe22-5c2d-4f8c-89f9-2e9b3cb709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ea2a36-3ff1-464c-8518-c7162bc315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ba64f34-471c-444f-bec6-6dfeaafbb2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cbe22-5c2d-4f8c-89f9-2e9b3cb7092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8158ed5-f4c1-458f-88c2-6d590c4c146d}" ma:internalName="TaxCatchAll" ma:showField="CatchAllData" ma:web="678cbe22-5c2d-4f8c-89f9-2e9b3cb709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CC7FEA-1B29-4D77-96D6-645A9B0B70CE}">
  <ds:schemaRefs>
    <ds:schemaRef ds:uri="http://schemas.microsoft.com/office/2006/metadata/properties"/>
    <ds:schemaRef ds:uri="http://schemas.microsoft.com/office/infopath/2007/PartnerControls"/>
    <ds:schemaRef ds:uri="c2ea2a36-3ff1-464c-8518-c7162bc31587"/>
    <ds:schemaRef ds:uri="678cbe22-5c2d-4f8c-89f9-2e9b3cb70921"/>
  </ds:schemaRefs>
</ds:datastoreItem>
</file>

<file path=customXml/itemProps2.xml><?xml version="1.0" encoding="utf-8"?>
<ds:datastoreItem xmlns:ds="http://schemas.openxmlformats.org/officeDocument/2006/customXml" ds:itemID="{791C5AB7-BFD5-440A-AE83-1431E532FA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1E6E9C-F34F-492D-966F-6334F85463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ea2a36-3ff1-464c-8518-c7162bc31587"/>
    <ds:schemaRef ds:uri="678cbe22-5c2d-4f8c-89f9-2e9b3cb709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3239</TotalTime>
  <Words>1547</Words>
  <Application>Microsoft Office PowerPoint</Application>
  <PresentationFormat>Panorámica</PresentationFormat>
  <Paragraphs>222</Paragraphs>
  <Slides>6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Google Sans</vt:lpstr>
      <vt:lpstr>Wingdings</vt:lpstr>
      <vt:lpstr>Tema de Office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Andres Carreño Araya</dc:creator>
  <cp:lastModifiedBy>Fernando Valdés</cp:lastModifiedBy>
  <cp:revision>1</cp:revision>
  <dcterms:created xsi:type="dcterms:W3CDTF">2023-11-28T21:09:01Z</dcterms:created>
  <dcterms:modified xsi:type="dcterms:W3CDTF">2026-10-20T00:13:18Z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0x010100381604CA957AD54F955BE5D9569AE521</vt:lpwstr>
  </property>
</Properties>
</file>